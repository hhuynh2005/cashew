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5261d965-ea5f-3176-f4fc-d50d78fc8f28}">
          <p14:sldIdLst>
            <p14:sldId id="256"/>
            <p14:sldId id="257"/>
            <p14:sldId id="258"/>
          </p14:sldIdLst>
        </p14:section>
        <p14:section name="Tổng quan Firebase" id="{e6830705-dfcb-e151-2be0-253b52bfdccc}">
          <p14:sldIdLst>
            <p14:sldId id="259"/>
            <p14:sldId id="260"/>
            <p14:sldId id="261"/>
          </p14:sldIdLst>
        </p14:section>
        <p14:section name="Thiết lập" id="{e39d7b66-0d0b-7313-741f-8a7565313089}">
          <p14:sldIdLst>
            <p14:sldId id="262"/>
            <p14:sldId id="263"/>
            <p14:sldId id="264"/>
            <p14:sldId id="265"/>
          </p14:sldIdLst>
        </p14:section>
        <p14:section name="Kết luận" id="{5eb07274-77f0-e488-c3a1-a3f859918502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chuyên đề, học phần và các thành viên Nhóm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Bài trình bày gồm 6 phần, đi từ yêu cầu đề bài đến kết quả bàn giao.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Đối chiếu từng mục yêu cầu của giảng viên với kết quả nhóm đã thực hiện.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Firebase là nền tảng BaaS của Google; FlutterFire là bộ plugin chính thức cho Flutter.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dịch vụ đảm nhận một vai trò: danh tính, dữ liệu có cấu trúc, và tệp tài liệu.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Flutter gồm 4 tầng; phía Cloud gồm Authentication, Firestore, Storage và cơ chế đồng bộ hai chiều.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Thông tin cấu hình thực tế của dự án Firebase mà cả nhóm dùng chung.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Một Owner và ba Editor; mỗi thành viên phụ trách một mảng dịch vụ riêng.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bước: bật Auth, tạo Firestore, thiết lập rules và mời thành viên.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Tệp firebase_options.dart do FlutterFire CLI sinh ra; API key đã được rút gọn trên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đã hoàn thành 7/7 mục, phân quyền đủ 4 thành viên và kiểm thử đạt 54/54 test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417320"/>
            <a:ext cx="105156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Chuyên đề Mục 7: Tìm hiểu Firebase và thiết lập tài khoản nhóm  |  Nhóm 16 – CSE441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TRƯỜNG ĐẠI HỌC THỦY LỢI  |  KHOA CÔNG NGHỆ THÔNG TIN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4173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Tìm hiểu Firebase và hướng dẫn thiết lập tài khoản nhóm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Chuyên đề Mục 7 – Bài tập Cloud DMS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accent5"/>
                </a:solidFill>
              </a:rPr>
              <a:t>Ứng dụng quản lý tài liệu học tập StudyDocs DMS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accent5"/>
                </a:solidFill>
              </a:rPr>
              <a:t>Học phần: Phát triển ứng dụng di động (CSE441)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09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NHÓM THỰC HIỆN: NHÓM 16 – LỚP 65KTPM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206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Nguyễn Văn Huỳnh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Nhóm trưởng  ·  MSSV 2351170599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51206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Lê Anh Tuấn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Thành viên  ·  MSSV 2151060296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51206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Trần Anh Tuấn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Thành viên  ·  MSSV 2351170605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51206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Nguyễn Trung Kiên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Thành viên  ·  MSSV 2351170570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Nội dung trình bày</a:t>
            </a:r>
            <a:endParaRPr lang="en-US" sz="3000" dirty="0"/>
          </a:p>
        </p:txBody>
      </p:sp>
      <p:sp>
        <p:nvSpPr>
          <p:cNvPr id="3" name="Agenda row 1"/>
          <p:cNvSpPr/>
          <p:nvPr/>
        </p:nvSpPr>
        <p:spPr>
          <a:xfrm>
            <a:off x="640080" y="1508760"/>
            <a:ext cx="1088136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Đối soát yêu cầu đề bài</a:t>
            </a:r>
            <a:endParaRPr lang="en-US" sz="1800" dirty="0"/>
          </a:p>
        </p:txBody>
      </p:sp>
      <p:sp>
        <p:nvSpPr>
          <p:cNvPr id="6" name="Agenda row 2"/>
          <p:cNvSpPr/>
          <p:nvPr/>
        </p:nvSpPr>
        <p:spPr>
          <a:xfrm>
            <a:off x="640080" y="2276856"/>
            <a:ext cx="1088136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768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27685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Tổng quan Firebase và các dịch vụ sử dụng</a:t>
            </a:r>
            <a:endParaRPr lang="en-US" sz="1800" dirty="0"/>
          </a:p>
        </p:txBody>
      </p:sp>
      <p:sp>
        <p:nvSpPr>
          <p:cNvPr id="9" name="Agenda row 3"/>
          <p:cNvSpPr/>
          <p:nvPr/>
        </p:nvSpPr>
        <p:spPr>
          <a:xfrm>
            <a:off x="640080" y="3044952"/>
            <a:ext cx="1088136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0449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04495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Kiến trúc tích hợp Flutter – Google Cloud</a:t>
            </a:r>
            <a:endParaRPr lang="en-US" sz="1800" dirty="0"/>
          </a:p>
        </p:txBody>
      </p:sp>
      <p:sp>
        <p:nvSpPr>
          <p:cNvPr id="12" name="Agenda row 4"/>
          <p:cNvSpPr/>
          <p:nvPr/>
        </p:nvSpPr>
        <p:spPr>
          <a:xfrm>
            <a:off x="640080" y="3813048"/>
            <a:ext cx="1088136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8130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813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Cấu hình dự án và phân quyền thành viên</a:t>
            </a:r>
            <a:endParaRPr lang="en-US" sz="1800" dirty="0"/>
          </a:p>
        </p:txBody>
      </p:sp>
      <p:sp>
        <p:nvSpPr>
          <p:cNvPr id="15" name="Agenda row 5"/>
          <p:cNvSpPr/>
          <p:nvPr/>
        </p:nvSpPr>
        <p:spPr>
          <a:xfrm>
            <a:off x="640080" y="4581144"/>
            <a:ext cx="1088136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58114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5811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Quy trình thiết lập và tích hợp mã nguồn</a:t>
            </a:r>
            <a:endParaRPr lang="en-US" sz="1800" dirty="0"/>
          </a:p>
        </p:txBody>
      </p:sp>
      <p:sp>
        <p:nvSpPr>
          <p:cNvPr id="18" name="Agenda row 6"/>
          <p:cNvSpPr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349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5349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Tổng kết và sản phẩm bàn giao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Đối soát yêu cầu đề bài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023360"/>
                <a:gridCol w="46634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Mục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Yêu cầu của giảng viên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Kết quả thực hiện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Trạng thái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Liệt kê và phân tích 4 thành phần cốt lõi của DMS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Frontend, Backend, Database, File Storage (trong báo cáo Word)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Hoàn thành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Xác định điểm nghẽn của hệ thống truyền thống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điểm nghẽn: Disk I/O, khó mở rộng, SPOF, phụ thuộc VPN, chi phí CapEx cao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Hoàn thành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Lựa chọn mô hình Cloud và dịch vụ cụ thể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 sánh Public/Private/Hybrid; chọn Public Cloud kết hợp Offline-First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Hoàn thành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Thiết kế kiến trúc Cloud và mô tả luồng dữ liệu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Sơ đồ kiến trúc phân tầng, sequence Direct Upload, đồng bộ hai chiều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Hoàn thành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Đánh giá tác động về bảo mật, chi phí, hiệu suất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Bảo mật AES-256; TCO 3 năm giảm 40%; SLA 99,99%, độ trễ thấp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Hoàn thành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Dùng Firebase tích hợp đăng nhập Google và lưu trữ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Google Auth, Firebase Storage, Cloud Firestore, giao diện Profile &amp; Badges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Hoàn thành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Tạo slide tìm hiểu Firebase và cách setup tài khoản nhóm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Bộ slide này và tài liệu DOCS_MUC_7_FIREBASE_SETUP_NHOM16.docx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Hoàn thành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Tổng quan hệ sinh thái Firebase</a:t>
            </a:r>
            <a:endParaRPr lang="en-US" sz="3000" dirty="0"/>
          </a:p>
        </p:txBody>
      </p:sp>
      <p:sp>
        <p:nvSpPr>
          <p:cNvPr id="3" name="Panel 1"/>
          <p:cNvSpPr/>
          <p:nvPr/>
        </p:nvSpPr>
        <p:spPr>
          <a:xfrm>
            <a:off x="640080" y="1371600"/>
            <a:ext cx="3474720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Backend-as-a-Service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4028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Không cần dựng máy chủ vật lý, không quản trị hệ điều hành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Cung cấp sẵn API và SDK cho Mobile và Web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Tự động co giãn theo lượng truy cập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SLA 99,99% từ hạ tầng Google Cloud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Giảm khoảng 70% thời gian xây dựng backend</a:t>
            </a:r>
            <a:endParaRPr lang="en-US" sz="1600" dirty="0"/>
          </a:p>
        </p:txBody>
      </p:sp>
      <p:sp>
        <p:nvSpPr>
          <p:cNvPr id="6" name="Panel 2"/>
          <p:cNvSpPr/>
          <p:nvPr/>
        </p:nvSpPr>
        <p:spPr>
          <a:xfrm>
            <a:off x="4343400" y="1371600"/>
            <a:ext cx="3474720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Thư viện FlutterFire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24028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Bộ plugin chính thức kết nối Flutter với Firebase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Hỗ trợ Android, iOS, Web, Desktop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Quản lý tác vụ bất đồng bộ qua Future/Stream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FlutterFire CLI sinh mã cấu hình tự động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Phù hợp với cơ chế quản lý trạng thái phản ứng</a:t>
            </a:r>
            <a:endParaRPr lang="en-US" sz="1600" dirty="0"/>
          </a:p>
        </p:txBody>
      </p:sp>
      <p:sp>
        <p:nvSpPr>
          <p:cNvPr id="9" name="Panel 3"/>
          <p:cNvSpPr/>
          <p:nvPr/>
        </p:nvSpPr>
        <p:spPr>
          <a:xfrm>
            <a:off x="8046720" y="1371600"/>
            <a:ext cx="3474720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Lợi ích với StudyDocs DMS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240280"/>
            <a:ext cx="2971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Đăng nhập Google một chạm với tài khoản trường TLU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Đồng bộ danh mục tài liệu thời gian thực qua Firestore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Lưu tệp PDF/Word bền vững trên Cloud Storage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Offline-First: dữ liệu vẫn dùng được khi mất mạng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Gói Spark miễn phí, phù hợp phạm vi học phần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 dịch vụ Firebase nhóm sử dụng cho DMS</a:t>
            </a:r>
            <a:endParaRPr lang="en-US" sz="3000" dirty="0"/>
          </a:p>
        </p:txBody>
      </p:sp>
      <p:sp>
        <p:nvSpPr>
          <p:cNvPr id="3" name="Service label 1"/>
          <p:cNvSpPr/>
          <p:nvPr/>
        </p:nvSpPr>
        <p:spPr>
          <a:xfrm>
            <a:off x="640080" y="1371600"/>
            <a:ext cx="3383280" cy="14630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3716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Firebase Authentication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Quản lý danh tính và Google Sign-In</a:t>
            </a:r>
            <a:endParaRPr lang="en-US" sz="2000" dirty="0"/>
          </a:p>
        </p:txBody>
      </p:sp>
      <p:sp>
        <p:nvSpPr>
          <p:cNvPr id="5" name="Service detail 1"/>
          <p:cNvSpPr/>
          <p:nvPr/>
        </p:nvSpPr>
        <p:spPr>
          <a:xfrm>
            <a:off x="4023360" y="1371600"/>
            <a:ext cx="7498080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297680" y="137160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Chuẩn OAuth 2.0 và OpenID Connect; đăng nhập một chạm bằng tài khoản Google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Tự động quản lý phiên và token JWT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Stream authStateChanges() cập nhật giao diện tức thì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Nhận diện email sinh viên @e.tlu.edu.vn để cấp huy hiệu</a:t>
            </a:r>
            <a:endParaRPr lang="en-US" sz="1500" dirty="0"/>
          </a:p>
        </p:txBody>
      </p:sp>
      <p:sp>
        <p:nvSpPr>
          <p:cNvPr id="7" name="Service label 2"/>
          <p:cNvSpPr/>
          <p:nvPr/>
        </p:nvSpPr>
        <p:spPr>
          <a:xfrm>
            <a:off x="640080" y="2971800"/>
            <a:ext cx="3383280" cy="14630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718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Cloud Firestore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CSDL NoSQL đồng bộ thời gian thực</a:t>
            </a:r>
            <a:endParaRPr lang="en-US" sz="2000" dirty="0"/>
          </a:p>
        </p:txBody>
      </p:sp>
      <p:sp>
        <p:nvSpPr>
          <p:cNvPr id="9" name="Service detail 2"/>
          <p:cNvSpPr/>
          <p:nvPr/>
        </p:nvSpPr>
        <p:spPr>
          <a:xfrm>
            <a:off x="4023360" y="2971800"/>
            <a:ext cx="7498080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0" y="297180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Mô hình Document–Collection linh hoạt, không cần schema cứng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Real-time listener (onSnapshot) cập nhật dữ liệu dưới 1 giây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Offline Persistence: đọc/ghi cục bộ khi mất mạng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Lưu metadata tài liệu và bảng delete_logs phục vụ kiểm toán</a:t>
            </a:r>
            <a:endParaRPr lang="en-US" sz="1500" dirty="0"/>
          </a:p>
        </p:txBody>
      </p:sp>
      <p:sp>
        <p:nvSpPr>
          <p:cNvPr id="11" name="Service label 3"/>
          <p:cNvSpPr/>
          <p:nvPr/>
        </p:nvSpPr>
        <p:spPr>
          <a:xfrm>
            <a:off x="640080" y="4572000"/>
            <a:ext cx="3383280" cy="14630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5720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Firebase Cloud Storage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Lưu trữ đối tượng, tệp dung lượng lớn</a:t>
            </a:r>
            <a:endParaRPr lang="en-US" sz="2000" dirty="0"/>
          </a:p>
        </p:txBody>
      </p:sp>
      <p:sp>
        <p:nvSpPr>
          <p:cNvPr id="13" name="Service detail 3"/>
          <p:cNvSpPr/>
          <p:nvPr/>
        </p:nvSpPr>
        <p:spPr>
          <a:xfrm>
            <a:off x="4023360" y="4572000"/>
            <a:ext cx="7498080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97680" y="4572000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Nền Google Cloud Storage, độ bền 99,999999999% (11 số 9)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Lưu tệp nhị phân: PDF bài giảng, Word đề cương, slide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Security Rules: chỉ người dùng đã đăng nhập mới được đọc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Theo dõi tiến trình tải lên; sinh Download URL có chữ ký số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Kiến trúc tích hợp Flutter Client và Google Cloud</a:t>
            </a:r>
            <a:endParaRPr lang="en-US" sz="3000" dirty="0"/>
          </a:p>
        </p:txBody>
      </p:sp>
      <p:sp>
        <p:nvSpPr>
          <p:cNvPr id="3" name="FLUTTER CLIENT (STUDYDOCS DMS)"/>
          <p:cNvSpPr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FLUTTER CLIENT (STUDYDOCS DMS)</a:t>
            </a:r>
            <a:endParaRPr lang="en-US" sz="1500" dirty="0"/>
          </a:p>
        </p:txBody>
      </p:sp>
      <p:sp>
        <p:nvSpPr>
          <p:cNvPr id="5" name="FLUTTER CLIENT (STUDYDOCS DMS) row 1"/>
          <p:cNvSpPr/>
          <p:nvPr/>
        </p:nvSpPr>
        <p:spPr>
          <a:xfrm>
            <a:off x="640080" y="1920240"/>
            <a:ext cx="5029200" cy="9326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Presentation (UI)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HomeDashboardPage, LoginPage, DocumentDetailPage, CloudSyncPanel, UserProfileHeader</a:t>
            </a:r>
            <a:endParaRPr lang="en-US" sz="1500" dirty="0"/>
          </a:p>
        </p:txBody>
      </p:sp>
      <p:sp>
        <p:nvSpPr>
          <p:cNvPr id="7" name="FLUTTER CLIENT (STUDYDOCS DMS) row 2"/>
          <p:cNvSpPr/>
          <p:nvPr/>
        </p:nvSpPr>
        <p:spPr>
          <a:xfrm>
            <a:off x="640080" y="2944368"/>
            <a:ext cx="5029200" cy="9326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944368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State management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DocumentStateProvider, Reactive Stream Watchers, ChangeNotifier</a:t>
            </a:r>
            <a:endParaRPr lang="en-US" sz="1500" dirty="0"/>
          </a:p>
        </p:txBody>
      </p:sp>
      <p:sp>
        <p:nvSpPr>
          <p:cNvPr id="9" name="FLUTTER CLIENT (STUDYDOCS DMS) row 3"/>
          <p:cNvSpPr/>
          <p:nvPr/>
        </p:nvSpPr>
        <p:spPr>
          <a:xfrm>
            <a:off x="640080" y="3968496"/>
            <a:ext cx="5029200" cy="9326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968496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Services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GoogleAuthService, FirebaseStorageService, CloudSyncService</a:t>
            </a:r>
            <a:endParaRPr lang="en-US" sz="1500" dirty="0"/>
          </a:p>
        </p:txBody>
      </p:sp>
      <p:sp>
        <p:nvSpPr>
          <p:cNvPr id="11" name="FLUTTER CLIENT (STUDYDOCS DMS) row 4"/>
          <p:cNvSpPr/>
          <p:nvPr/>
        </p:nvSpPr>
        <p:spPr>
          <a:xfrm>
            <a:off x="640080" y="4992624"/>
            <a:ext cx="5029200" cy="9326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992624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Local persistence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SQLite (AppDatabase): documents, subjects, delete_logs</a:t>
            </a:r>
            <a:endParaRPr lang="en-US" sz="1500" dirty="0"/>
          </a:p>
        </p:txBody>
      </p:sp>
      <p:sp>
        <p:nvSpPr>
          <p:cNvPr id="13" name="GOOGLE FIREBASE CLOUD BACKEND"/>
          <p:cNvSpPr/>
          <p:nvPr/>
        </p:nvSpPr>
        <p:spPr>
          <a:xfrm>
            <a:off x="6519672" y="1371600"/>
            <a:ext cx="502920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19672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GOOGLE FIREBASE CLOUD BACKEND</a:t>
            </a:r>
            <a:endParaRPr lang="en-US" sz="1500" dirty="0"/>
          </a:p>
        </p:txBody>
      </p:sp>
      <p:sp>
        <p:nvSpPr>
          <p:cNvPr id="15" name="GOOGLE FIREBASE CLOUD BACKEND row 1"/>
          <p:cNvSpPr/>
          <p:nvPr/>
        </p:nvSpPr>
        <p:spPr>
          <a:xfrm>
            <a:off x="6519672" y="1920240"/>
            <a:ext cx="5029200" cy="9326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02552" y="1920240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Firebase Authentication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OAuth 2.0 Google Provider; quản lý JWT; trạng thái phiên</a:t>
            </a:r>
            <a:endParaRPr lang="en-US" sz="1500" dirty="0"/>
          </a:p>
        </p:txBody>
      </p:sp>
      <p:sp>
        <p:nvSpPr>
          <p:cNvPr id="17" name="GOOGLE FIREBASE CLOUD BACKEND row 2"/>
          <p:cNvSpPr/>
          <p:nvPr/>
        </p:nvSpPr>
        <p:spPr>
          <a:xfrm>
            <a:off x="6519672" y="2944368"/>
            <a:ext cx="5029200" cy="9326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02552" y="2944368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Cloud Firestore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Collection 'documents'; đồng bộ hai chiều thời gian thực; Security Rules</a:t>
            </a:r>
            <a:endParaRPr lang="en-US" sz="1500" dirty="0"/>
          </a:p>
        </p:txBody>
      </p:sp>
      <p:sp>
        <p:nvSpPr>
          <p:cNvPr id="19" name="GOOGLE FIREBASE CLOUD BACKEND row 3"/>
          <p:cNvSpPr/>
          <p:nvPr/>
        </p:nvSpPr>
        <p:spPr>
          <a:xfrm>
            <a:off x="6519672" y="3968496"/>
            <a:ext cx="5029200" cy="9326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02552" y="3968496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Cloud Storage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Cây thư mục documents/{uid}/{docId}/; Security Rules (tối đa 50 MB)</a:t>
            </a:r>
            <a:endParaRPr lang="en-US" sz="1500" dirty="0"/>
          </a:p>
        </p:txBody>
      </p:sp>
      <p:sp>
        <p:nvSpPr>
          <p:cNvPr id="21" name="GOOGLE FIREBASE CLOUD BACKEND row 4"/>
          <p:cNvSpPr/>
          <p:nvPr/>
        </p:nvSpPr>
        <p:spPr>
          <a:xfrm>
            <a:off x="6519672" y="4992624"/>
            <a:ext cx="5029200" cy="93268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02552" y="4992624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Đồng bộ hai chiều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Online: tự đồng bộ lên Cloud. Offline: đọc/ghi SQLite, có mạng thì đẩy phần thay đổi</a:t>
            </a:r>
            <a:endParaRPr lang="en-US" sz="1500" dirty="0"/>
          </a:p>
        </p:txBody>
      </p:sp>
      <p:sp>
        <p:nvSpPr>
          <p:cNvPr id="23" name="Arrow"/>
          <p:cNvSpPr/>
          <p:nvPr/>
        </p:nvSpPr>
        <p:spPr>
          <a:xfrm>
            <a:off x="5760720" y="3246120"/>
            <a:ext cx="667512" cy="365760"/>
          </a:xfrm>
          <a:prstGeom prst="leftRightArrow">
            <a:avLst/>
          </a:prstGeom>
          <a:solidFill>
            <a:schemeClr val="accent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0" y="3703320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HTTPS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REST/gRPC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Cấu hình Firebase Project của Nhóm 16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6751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Tên dự án (Project name)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cashew-study-docs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Mã định danh (Project ID)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cashew-study-docs-d5b15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Số hiệu dự án (Project number / Sender ID)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825188339992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Storage bucket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cashew-study-docs-d5b15.firebasestorage.app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Vị trí Firestore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nam5 (Hoa Kỳ) – chế độ Native Mode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Gói thanh toán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Spark – miễn phí (0 USD/tháng; 1 GB Firestore; 50.000 lượt đọc/ngày)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Phân quyền thành viên trên Firebase Console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2377440"/>
                <a:gridCol w="1005840"/>
                <a:gridCol w="3474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Thành viên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Vai trò trong nhóm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Email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Quyền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Nhiệm vụ trên Firebase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Nguyễn Văn Huỳnh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Nhóm trưởng (Project Lead)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hha140860@gmail.com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Owner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Toàn quyền quản trị dự án, khởi tạo dịch vụ, cấp quyền và quản lý chi phí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Lê Anh Tuấn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Phụ trách xác thực (Auth Lead)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chotommt123@gmail.com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Editor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Cấu hình Google Provider, quản lý người dùng đăng nhập, kiểm tra OAuth client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Trần Anh Tuấn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Phụ trách đồng bộ (Sync Lead)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anhtuan160205@gmail.com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Editor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Quản lý Cloud Firestore, cấu hình Firestore Rules, kiểm soát dữ liệu đồng bộ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Nguyễn Trung Kiên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Phụ trách giao diện (UI/UX Lead)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trungkienn10a6@gmail.com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Editor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Theo dõi trạng thái kết nối Cloud, kiểm tra chỉ báo UI và tải tệp trên môi trường thực tế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Quy trình thiết lập trên Firebase Console</a:t>
            </a:r>
            <a:endParaRPr lang="en-US" sz="3000" dirty="0"/>
          </a:p>
        </p:txBody>
      </p:sp>
      <p:sp>
        <p:nvSpPr>
          <p:cNvPr id="3" name="Step panel 1"/>
          <p:cNvSpPr/>
          <p:nvPr/>
        </p:nvSpPr>
        <p:spPr>
          <a:xfrm>
            <a:off x="640080" y="1371600"/>
            <a:ext cx="3474720" cy="4343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tep number 1"/>
          <p:cNvSpPr/>
          <p:nvPr/>
        </p:nvSpPr>
        <p:spPr>
          <a:xfrm>
            <a:off x="914400" y="16002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Bước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Bật Google Authentication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1752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Xây dựng → Authentication → Bắt đầu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Chọn nhà cung cấp Google, gạt sang Bật (Enabled)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Email hỗ trợ dự án: hha140860@gmail.com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Tên công khai: StudyDocs DMS → Lưu</a:t>
            </a:r>
            <a:endParaRPr lang="en-US" sz="1500" dirty="0"/>
          </a:p>
        </p:txBody>
      </p:sp>
      <p:sp>
        <p:nvSpPr>
          <p:cNvPr id="9" name="Step panel 2"/>
          <p:cNvSpPr/>
          <p:nvPr/>
        </p:nvSpPr>
        <p:spPr>
          <a:xfrm>
            <a:off x="4343400" y="1371600"/>
            <a:ext cx="3474720" cy="4343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tep number 2"/>
          <p:cNvSpPr/>
          <p:nvPr/>
        </p:nvSpPr>
        <p:spPr>
          <a:xfrm>
            <a:off x="4617720" y="16002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Bước 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2860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Khởi tạo Cloud Firestore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01752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Firestore Database → Tạo cơ sở dữ liệu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Phiên bản Standard, vị trí nam5 (Hoa Kỳ)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Bảo mật: bắt đầu ở chế độ thử nghiệm (Test mode)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Bấm Bật (Enable) để sẵn sàng lưu dữ liệu</a:t>
            </a:r>
            <a:endParaRPr lang="en-US" sz="1500" dirty="0"/>
          </a:p>
        </p:txBody>
      </p:sp>
      <p:sp>
        <p:nvSpPr>
          <p:cNvPr id="15" name="Step panel 3"/>
          <p:cNvSpPr/>
          <p:nvPr/>
        </p:nvSpPr>
        <p:spPr>
          <a:xfrm>
            <a:off x="8046720" y="1371600"/>
            <a:ext cx="3474720" cy="4343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tep number 3"/>
          <p:cNvSpPr/>
          <p:nvPr/>
        </p:nvSpPr>
        <p:spPr>
          <a:xfrm>
            <a:off x="8321040" y="16002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1600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Bước 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2860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Rules và thêm thành viên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01752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Storage Rules: phân quyền theo UID, tệp ≤ 50 MB, bắt buộc đăng nhập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Project settings → Users and permissions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Thêm Gmail của 3 thành viên còn lại, gán vai trò Editor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Thành viên chấp nhận lời mời để truy cập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Lưu ý: Test mode chỉ phù hợp giai đoạn phát triển; cần siết Security Rules trước khi triển khai thực tế.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Tích hợp FlutterFire vào mã nguồn dự án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640080" y="1371600"/>
            <a:ext cx="5852160" cy="4754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study_docs_app/lib/firebase_options.dart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DefaultFirebaseOptions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FirebaseOptions get currentPlatform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(kIsWeb) return web;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switch (defaultTargetPlatform)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case TargetPlatform.android: return android;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case TargetPlatform.iOS: return ios;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default: return android;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const FirebaseOptions android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FirebaseOptions(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apiKey: 'AIzaSyCyNMrtBDC...',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appId: '1:825188339992:android:e660...',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messagingSenderId: '825188339992',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projectId: 'cashew-study-docs-d5b15',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storageBucket: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'cashew-study-docs-d5b15.firebasestorage.app',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13716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1. Khai báo thư viện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Trong pubspec.yaml: firebase_core, firebase_auth, google_sign_in, firebase_storage, cloud_firestore, connectivity_plus.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257860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2. Nạp cấu hình Android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Đặt google-services.json vào study_docs_app/android/app/ để Gradle tự nạp thông tin dự án.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3785616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3. Khởi tạo trong main.dart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Gọi Firebase.initializeApp(options: DefaultFirebaseOptions.currentPlatform).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4992624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4. Mock Offline Fallback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Khi chạy kiểm thử hoặc thiết bị ngoại tuyến, các service tự chuyển sang chế độ Mock để kiểm thử ổn định.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Tổng kết và sản phẩm bàn giao Mục 7</a:t>
            </a:r>
            <a:endParaRPr lang="en-US" sz="3000" dirty="0"/>
          </a:p>
        </p:txBody>
      </p:sp>
      <p:sp>
        <p:nvSpPr>
          <p:cNvPr id="3" name="Stat 1"/>
          <p:cNvSpPr/>
          <p:nvPr/>
        </p:nvSpPr>
        <p:spPr>
          <a:xfrm>
            <a:off x="640080" y="1371600"/>
            <a:ext cx="3474720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mục checklist theo yêu cầu đề bài</a:t>
            </a:r>
            <a:endParaRPr lang="en-US" sz="1400" dirty="0"/>
          </a:p>
        </p:txBody>
      </p:sp>
      <p:sp>
        <p:nvSpPr>
          <p:cNvPr id="6" name="Stat 2"/>
          <p:cNvSpPr/>
          <p:nvPr/>
        </p:nvSpPr>
        <p:spPr>
          <a:xfrm>
            <a:off x="4343400" y="1371600"/>
            <a:ext cx="3474720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1463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194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tài khoản Gmail đã được cấp quyền Owner/Editor</a:t>
            </a:r>
            <a:endParaRPr lang="en-US" sz="1400" dirty="0"/>
          </a:p>
        </p:txBody>
      </p:sp>
      <p:sp>
        <p:nvSpPr>
          <p:cNvPr id="9" name="Stat 3"/>
          <p:cNvSpPr/>
          <p:nvPr/>
        </p:nvSpPr>
        <p:spPr>
          <a:xfrm>
            <a:off x="8046720" y="1371600"/>
            <a:ext cx="3474720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0" y="1463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54/54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194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case đạt (Unit, Integration, Widget)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đạt được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118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Hạ tầng Cloud sẵn sàng: project cashew-study-docs-d5b15 (825188339992), đã kích hoạt Auth Google và Firestore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Phân quyền đầy đủ cho cả 4 thành viên Nhóm 16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Mã nguồn hợp nhất trên nhánh main, gồm đóng góp của cả 4 thành viên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154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phẩm bàn giao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611880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Slide: SLIDE_MUC_7_FIREBASE_SETUP_NHOM16.pptx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Tài liệu: DOCS_MUC_7_FIREBASE_SETUP_NHOM16.docx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Báo cáo kiến trúc Cloud: BAO_CAO_TICH_HOP_CLOUD_DMS.docx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GitHub: github.com/hhuynh2005/Quan_ly_quan_ly_DMS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4173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Xin cảm ơn thầy cô và các bạn đã lắng nghe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Nhóm 16 – Lớp 65KTPM – Khoa Công nghệ thông tin – Đại học Thủy lợi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Nhóm xin lắng nghe câu hỏi và góp ý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oCaoFirebase">
  <a:themeElements>
    <a:clrScheme name="BaoCaoFirebase">
      <a:dk1>
        <a:srgbClr val="1F2933"/>
      </a:dk1>
      <a:lt1>
        <a:srgbClr val="FFFFFF"/>
      </a:lt1>
      <a:dk2>
        <a:srgbClr val="16294A"/>
      </a:dk2>
      <a:lt2>
        <a:srgbClr val="F1F4F8"/>
      </a:lt2>
      <a:accent1>
        <a:srgbClr val="16294A"/>
      </a:accent1>
      <a:accent2>
        <a:srgbClr val="E8A000"/>
      </a:accent2>
      <a:accent3>
        <a:srgbClr val="5B6B82"/>
      </a:accent3>
      <a:accent4>
        <a:srgbClr val="2F7D5B"/>
      </a:accent4>
      <a:accent5>
        <a:srgbClr val="C8D2E0"/>
      </a:accent5>
      <a:accent6>
        <a:srgbClr val="8A97AB"/>
      </a:accent6>
      <a:hlink>
        <a:srgbClr val="1F5FBF"/>
      </a:hlink>
      <a:folHlink>
        <a:srgbClr val="5B6B82"/>
      </a:folHlink>
    </a:clrScheme>
    <a:fontScheme name="BaoCaoFireba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Tìm hiểu Firebase và hướng dẫn thiết lập tài khoản nhóm - Nhóm 16</dc:title>
  <dc:subject>PptxGenJS Presentation</dc:subject>
  <dc:creator>Nhóm 16 - Lớp 65KTPM</dc:creator>
  <cp:lastModifiedBy>Nhóm 16 - Lớp 65KTPM</cp:lastModifiedBy>
  <cp:revision>1</cp:revision>
  <dcterms:created xsi:type="dcterms:W3CDTF">2026-10-09T12:32:55Z</dcterms:created>
  <dcterms:modified xsi:type="dcterms:W3CDTF">2026-10-09T12:32:55Z</dcterms:modified>
</cp:coreProperties>
</file>
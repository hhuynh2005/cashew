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548640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HỌC PHẦN: PHÁT TRIỂN ỨNG DỤNG DI ĐỘNG (CSE441) — BÀI TẬP CLOUD DMS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CHUYÊN ĐỀ MỤC 7: TÌM HIỂU VỀ FIREBASE</a:t>
            </a:r>
            <a:br/>
            <a:r>
              <a:t>VÀ HƯỚNG DẪN THIẾT LẬP VỚI TÀI KHOẢN NHÓM 16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</a:defRPr>
            </a:pPr>
            <a:r>
              <a:t>Ứng dụng Quản lý Tài liệu Học tập theo Kiến trúc Cashew (StudyDocs DMS) • Tích hợp Google Auth, Cloud Firestore &amp; Cloud Storage</a:t>
            </a:r>
          </a:p>
          <a:p>
            <a:pPr>
              <a:spcBef>
                <a:spcPts val="2000"/>
              </a:spcBef>
              <a:defRPr sz="1100">
                <a:solidFill>
                  <a:srgbClr val="F59E0B"/>
                </a:solidFill>
              </a:defRPr>
            </a:pPr>
            <a:r>
              <a:t>ĐƠN VỊ THỰC HIỆN: NHÓM 16 — LỚP 65KTPM — KHOA CÔNG NGHỆ THÔNG TIN — ĐẠI HỌC THỦY LỢI</a:t>
            </a:r>
            <a:br/>
            <a:r>
              <a:t>• Nguyễn Văn Huỳnh (Nhóm trưởng) — MSSV: 2351170599 (hha140860@gmail.com)</a:t>
            </a:r>
            <a:br/>
            <a:r>
              <a:t>• Lê Anh Tuấn — MSSV: 2151060296 (chotommt123@gmail.com)</a:t>
            </a:r>
            <a:br/>
            <a:r>
              <a:t>• Trần Anh Tuấn — MSSV: 2351170605 (anhtuan160205@gmail.com)</a:t>
            </a:r>
            <a:br/>
            <a:r>
              <a:t>• Nguyễn Trung Kiên — MSSV: 2351170570 (trungkienn10a6@gmail.com)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ĐỐI SOÁT HOÀN THÀNH TOÀN DIỆN CHECKLIST 7 MỤC ĐỀ BÀI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114800"/>
                <a:gridCol w="5699455"/>
              </a:tblGrid>
              <a:tr h="5943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Checklist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Nội Dung Yêu Cầu Của Giảng Viên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Minh Chứng &amp; Trạng Thái Hoàn Thành Nhóm 16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</a:defRPr>
                      </a:pPr>
                      <a:r>
                        <a:t>Mục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Liệt kê và phân tích 4 thành phần cốt lõi của DMS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Đã phân tích chi tiết: Frontend, Backend, Database, File Storage trong Báo cáo Word. (100%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</a:defRPr>
                      </a:pPr>
                      <a:r>
                        <a:t>Mục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Xác định các điểm nghẽn của hệ thống truyền thống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Đã chỉ rõ 5 điểm nghẽn: Disk I/O, Khó mở rộng, Rủi ro SPOF, Phụ thuộc VPN, Chi phí CapEx cao. (100% PASS)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</a:defRPr>
                      </a:pPr>
                      <a:r>
                        <a:t>Mục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Lựa chọn mô hình Cloud phù hợp &amp; dịch vụ cụ thể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Đã so sánh Public/Private/Hybrid Cloud; Chọn Public Cloud kết hợp Hybrid Client Offline-First. (100%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</a:defRPr>
                      </a:pPr>
                      <a:r>
                        <a:t>Mục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Thiết kế sơ đồ kiến trúc Cloud và mô tả luồng dữ liệu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Đã vẽ sơ đồ kiến trúc Cloud phân tầng, sơ đồ Sequence Direct Upload &amp; đồng bộ hai chiều. (100% PASS)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</a:defRPr>
                      </a:pPr>
                      <a:r>
                        <a:t>Mục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Đánh giá các tác động về bảo mật, chi phí, hiệu suất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Đã phân tích 3 trụ cột: Bảo mật AES-256, Chi phí TCO 3 năm giảm 40%, SLA độ trễ thấp 99.99%. (100%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</a:defRPr>
                      </a:pPr>
                      <a:r>
                        <a:t>Mục 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Sử dụng Firebase tích hợp đăng nhập Google &amp; lưu trữ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Code hoàn chỉnh 4 thành viên: Google Auth, Firebase Storage, Cloud Firestore, UI Profile &amp; Badges. (100% PASS)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</a:defRPr>
                      </a:pPr>
                      <a:r>
                        <a:t>Mục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Tạo Slide tìm hiểu Firebase &amp; cách setup tài khoản nhóm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Đã hoàn thành slide thuyết trình này kèm file hướng dẫn văn bản DOCS_MUC_7_FIREBASE_SETUP_NHOM16.docx. (100%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TỔNG QUAN HỆ SINH THÁI GOOGLE FIREBASE (BaaS CHO FLUTTER)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Backend-as-a-Service (BaaS)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Không cần dựng máy chủ vật lý, không quản trị OS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Cung cấp sẵn APIs, SDKs cho Mobile &amp; Web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Tự động co giãn (Auto-scaling) theo số lượng truy cập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Bảo đảm độ sẵn sàng SLA 99.99% từ Google Cloud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Giảm 70% thời gian xây dựng backend cho sinh viên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400" b="1">
                <a:solidFill>
                  <a:srgbClr val="0D9488"/>
                </a:solidFill>
              </a:defRPr>
            </a:pPr>
            <a:r>
              <a:t>Thư viện FlutterFire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Bộ plugin chính thức kết nối Flutter với Firebase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Hỗ trợ đa nền tảng: Android, iOS, Web, Desktop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Tự động quản trị tiến trình bất đồng bộ (Futures/Streams)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Đóng gói công cụ FlutterFire CLI sinh mã tự động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Tích hợp chặt chẽ với cơ chế Reactive State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Lợi ích cho StudyDocs DMS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Hỗ trợ Google Sign-In một chạm với tài khoản trường TLU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Đồng bộ danh mục tài liệu thời gian thực qua Firestore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Lưu trữ tệp PDF/Word bền vững trên Cloud Storage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Cơ chế Offline-First: Dữ liệu vẫn sẵn sàng khi mất mạng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Không tốn chi phí với gói dịch vụ Spark hoàn toàn miễn phí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BA DỊCH VỤ CỐT LÕI NHÓM 16 ỨNG DỤNG CHO DMS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/>
            <a:r>
              <a:rPr b="1" sz="1300">
                <a:solidFill>
                  <a:srgbClr val="1E3A8A"/>
                </a:solidFill>
              </a:rPr>
              <a:t>1. Firebase Authentication — </a:t>
            </a:r>
            <a:r>
              <a:rPr sz="1100" b="1">
                <a:solidFill>
                  <a:srgbClr val="0F172A"/>
                </a:solidFill>
              </a:rPr>
              <a:t>Quản lý Danh tính &amp; Google Sign-In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Chuẩn xác thực: OAuth 2.0 &amp; OpenID Connect an toàn cao | Đăng nhập một chạm với tài khoản Google cá nhân &amp; email trường TLU | Tự động quản lý phiên (Session) và mã token JWT bảo mật | Cung cấp Stream authStateChanges() phản ứng tức thì trên UI | Nhận diện định dạng email sinh viên @e.tlu.edu.vn cấp huy hiệu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0040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/>
            <a:r>
              <a:rPr b="1" sz="1300">
                <a:solidFill>
                  <a:srgbClr val="0D9488"/>
                </a:solidFill>
              </a:rPr>
              <a:t>2. Cloud Firestore — </a:t>
            </a:r>
            <a:r>
              <a:rPr sz="1100" b="1">
                <a:solidFill>
                  <a:srgbClr val="0F172A"/>
                </a:solidFill>
              </a:rPr>
              <a:t>Cơ sở dữ liệu NoSQL Đồng bộ Thời gian thực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Lưu trữ dữ liệu dạng Document-Collection linh hoạt không cần Schema cứng | Cơ chế Real-time Listener (onSnapshot) cập nhật dữ liệu dưới 1 giây | Tích hợp Offline Persistence: đọc/ghi dữ liệu cục bộ khi mất mạng | Hỗ trợ truy vấn đa điều kiện (theo môn học, tag, ngày tạo, trạng thái) | Lưu trữ metadata tài liệu, bảng delete_logs phục vụ kiểm toán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/>
            <a:r>
              <a:rPr b="1" sz="1300">
                <a:solidFill>
                  <a:srgbClr val="F59E0B"/>
                </a:solidFill>
              </a:rPr>
              <a:t>3. Firebase Cloud Storage — </a:t>
            </a:r>
            <a:r>
              <a:rPr sz="1100" b="1">
                <a:solidFill>
                  <a:srgbClr val="0F172A"/>
                </a:solidFill>
              </a:rPr>
              <a:t>Lưu trữ Đối tượng Tệp tin Dung lượng lớn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Hạ tầng Google Cloud Storage độ bền 99.999999999% (11 số 9) | Chuyên dụng lưu trữ tệp nhị phân: PDF bài giảng, Word đề cương, Slide | Kiểm soát truy cập bằng Security Rules: chỉ người đăng nhập mới được đọc | Hỗ trợ theo dõi tiến trình truyền tải thực tế (Upload Progress Bar) | Sinh Download URL công khai có chữ ký số truy cập nhanh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KIẾN TRÚC TÍCH HỢP: FLUTTER CLIENT &amp; GOOGLE CLOUD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4572000" cy="457200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FLUTTER CLIENT (STUDYDOCS DMS)</a:t>
            </a:r>
          </a:p>
          <a:p>
            <a:pPr>
              <a:spcBef>
                <a:spcPts val="800"/>
              </a:spcBef>
              <a:defRPr b="1" sz="1050">
                <a:solidFill>
                  <a:srgbClr val="0F172A"/>
                </a:solidFill>
              </a:defRPr>
            </a:pPr>
            <a:r>
              <a:t>Presentation (UI Layer):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HomeDashboardPage, LoginPage, DocumentDetailPage, CloudSyncPanel, UserProfileHeader</a:t>
            </a:r>
          </a:p>
          <a:p>
            <a:pPr>
              <a:spcBef>
                <a:spcPts val="800"/>
              </a:spcBef>
              <a:defRPr b="1" sz="1050">
                <a:solidFill>
                  <a:srgbClr val="0F172A"/>
                </a:solidFill>
              </a:defRPr>
            </a:pPr>
            <a:r>
              <a:t>State Management: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DocumentStateProvider, Reactive Stream Watchers, ChangeNotifier</a:t>
            </a:r>
          </a:p>
          <a:p>
            <a:pPr>
              <a:spcBef>
                <a:spcPts val="800"/>
              </a:spcBef>
              <a:defRPr b="1" sz="1050">
                <a:solidFill>
                  <a:srgbClr val="0F172A"/>
                </a:solidFill>
              </a:defRPr>
            </a:pPr>
            <a:r>
              <a:t>Domain &amp; Logic Services: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GoogleAuthService, FirebaseStorageService, CloudSyncService</a:t>
            </a:r>
          </a:p>
          <a:p>
            <a:pPr>
              <a:spcBef>
                <a:spcPts val="800"/>
              </a:spcBef>
              <a:defRPr b="1" sz="1050">
                <a:solidFill>
                  <a:srgbClr val="0F172A"/>
                </a:solidFill>
              </a:defRPr>
            </a:pPr>
            <a:r>
              <a:t>Local Persistence: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SQLite Database (AppDatabase), Tables: documents, subjects, delete_logs (Offline-First)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GOOGLE FIREBASE CLOUD BACKEND</a:t>
            </a:r>
          </a:p>
          <a:p>
            <a:pPr>
              <a:spcBef>
                <a:spcPts val="800"/>
              </a:spcBef>
              <a:defRPr b="1" sz="1050">
                <a:solidFill>
                  <a:srgbClr val="1E293B"/>
                </a:solidFill>
              </a:defRPr>
            </a:pPr>
            <a:r>
              <a:t>1. Firebase Authentication: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OAuth 2.0 Google Provider • Quản lý JWT Token • Session State</a:t>
            </a:r>
          </a:p>
          <a:p>
            <a:pPr>
              <a:spcBef>
                <a:spcPts val="800"/>
              </a:spcBef>
              <a:defRPr b="1" sz="1050">
                <a:solidFill>
                  <a:srgbClr val="1E293B"/>
                </a:solidFill>
              </a:defRPr>
            </a:pPr>
            <a:r>
              <a:t>2. Cloud Firestore Database: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Collection 'documents' • Sync Real-time hai chiều • Firestore Security Rules</a:t>
            </a:r>
          </a:p>
          <a:p>
            <a:pPr>
              <a:spcBef>
                <a:spcPts val="800"/>
              </a:spcBef>
              <a:defRPr b="1" sz="1050">
                <a:solidFill>
                  <a:srgbClr val="1E293B"/>
                </a:solidFill>
              </a:defRPr>
            </a:pPr>
            <a:r>
              <a:t>3. Firebase Cloud Storage: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Bucket 'cashew-study-docs-d5b15.firebasestorage.app' • Cây thư mục documents/{uid}/{docId}/ • Storage Security Rules (Max 50MB)</a:t>
            </a:r>
          </a:p>
          <a:p>
            <a:pPr>
              <a:spcBef>
                <a:spcPts val="800"/>
              </a:spcBef>
              <a:defRPr b="1" sz="1050">
                <a:solidFill>
                  <a:srgbClr val="1E293B"/>
                </a:solidFill>
              </a:defRPr>
            </a:pPr>
            <a:r>
              <a:t>4. Cơ chế Đồng bộ Hai chiều: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Online: Tự động sync lên Cloud | Offline: Đọc/ghi SQLite cục bộ, mạng phục hồi tự đẩy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3474720"/>
            <a:ext cx="1280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⇄ HTTPS</a:t>
            </a:r>
            <a:br/>
            <a:r>
              <a:t>REST/gRPC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CẤU HÌNH FIREBASE PROJECT THỰC TẾ CỦA NHÓM 16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528255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Tên dự án (Project Name):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cashew-study-docs (Bản dịch hiển thị: tài liệu nghiên cứu hạt điều)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Mã định danh dự án (Project ID):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D9488"/>
                          </a:solidFill>
                        </a:defRPr>
                      </a:pPr>
                      <a:r>
                        <a:t>cashew-study-docs-d5b15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Số hiệu dự án (Project Number / Sender ID):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D9488"/>
                          </a:solidFill>
                        </a:defRPr>
                      </a:pPr>
                      <a:r>
                        <a:t>825188339992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Storage Bucket lưu trữ tệp: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cashew-study-docs-d5b15.firebasestorage.app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Vị trí máy chủ cơ sở dữ liệu (Firestore Location):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nam5 (Hoa Kỳ) • Chế độ Native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F172A"/>
                          </a:solidFill>
                        </a:defRPr>
                      </a:pPr>
                      <a:r>
                        <a:t>Gói cước thanh toán áp dụng: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Gói Spark (Miễn phí 100% — 0 USD/tháng, 1GB Firestore, 50K reads/ngày)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PHÂN QUYỀN THÀNH VIÊN TRÊN FIREBASE CONSOLE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Nguyễn Văn Huỳnh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Nhóm trưởng (Project Lead)</a:t>
            </a:r>
          </a:p>
          <a:p>
            <a:pPr>
              <a:spcBef>
                <a:spcPts val="600"/>
              </a:spcBef>
              <a:defRPr sz="850">
                <a:solidFill>
                  <a:srgbClr val="64748B"/>
                </a:solidFill>
              </a:defRPr>
            </a:pPr>
            <a:r>
              <a:t>hha140860@gmail.com</a:t>
            </a:r>
          </a:p>
          <a:p>
            <a:pPr>
              <a:spcBef>
                <a:spcPts val="1200"/>
              </a:spcBef>
              <a:defRPr sz="1050" b="1">
                <a:solidFill>
                  <a:srgbClr val="F59E0B"/>
                </a:solidFill>
              </a:defRPr>
            </a:pPr>
            <a:r>
              <a:t>OWNER (Chủ sở hữu)</a:t>
            </a:r>
          </a:p>
          <a:p>
            <a:pPr>
              <a:spcBef>
                <a:spcPts val="1000"/>
              </a:spcBef>
              <a:defRPr sz="950">
                <a:solidFill>
                  <a:srgbClr val="1E293B"/>
                </a:solidFill>
              </a:defRPr>
            </a:pPr>
            <a:r>
              <a:t>Toàn quyền quản trị dự án, khởi tạo dịch vụ, cấp quyền và quản lý chi phí.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645920"/>
            <a:ext cx="256032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Lê Anh Tuấn</a:t>
            </a:r>
          </a:p>
          <a:p>
            <a:pPr>
              <a:defRPr sz="950" b="1">
                <a:solidFill>
                  <a:srgbClr val="1E3A8A"/>
                </a:solidFill>
              </a:defRPr>
            </a:pPr>
            <a:r>
              <a:t>Kỹ sư Xác thực (Auth Lead)</a:t>
            </a:r>
          </a:p>
          <a:p>
            <a:pPr>
              <a:spcBef>
                <a:spcPts val="600"/>
              </a:spcBef>
              <a:defRPr sz="850">
                <a:solidFill>
                  <a:srgbClr val="64748B"/>
                </a:solidFill>
              </a:defRPr>
            </a:pPr>
            <a:r>
              <a:t>chotommt123@gmail.com</a:t>
            </a:r>
          </a:p>
          <a:p>
            <a:pPr>
              <a:spcBef>
                <a:spcPts val="1200"/>
              </a:spcBef>
              <a:defRPr sz="1050" b="1">
                <a:solidFill>
                  <a:srgbClr val="10B981"/>
                </a:solidFill>
              </a:defRPr>
            </a:pPr>
            <a:r>
              <a:t>EDITOR (Chỉnh sửa)</a:t>
            </a:r>
          </a:p>
          <a:p>
            <a:pPr>
              <a:spcBef>
                <a:spcPts val="1000"/>
              </a:spcBef>
              <a:defRPr sz="950">
                <a:solidFill>
                  <a:srgbClr val="1E293B"/>
                </a:solidFill>
              </a:defRPr>
            </a:pPr>
            <a:r>
              <a:t>Cấu hình Google Provider, quản lý danh sách người dùng đăng nhập, kiểm tra OAuth client.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256032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Trần Anh Tuấn</a:t>
            </a:r>
          </a:p>
          <a:p>
            <a:pPr>
              <a:defRPr sz="950" b="1">
                <a:solidFill>
                  <a:srgbClr val="0D9488"/>
                </a:solidFill>
              </a:defRPr>
            </a:pPr>
            <a:r>
              <a:t>Kỹ sư Đồng bộ (Sync Lead)</a:t>
            </a:r>
          </a:p>
          <a:p>
            <a:pPr>
              <a:spcBef>
                <a:spcPts val="600"/>
              </a:spcBef>
              <a:defRPr sz="850">
                <a:solidFill>
                  <a:srgbClr val="64748B"/>
                </a:solidFill>
              </a:defRPr>
            </a:pPr>
            <a:r>
              <a:t>anhtuan160205@gmail.com</a:t>
            </a:r>
          </a:p>
          <a:p>
            <a:pPr>
              <a:spcBef>
                <a:spcPts val="1200"/>
              </a:spcBef>
              <a:defRPr sz="1050" b="1">
                <a:solidFill>
                  <a:srgbClr val="10B981"/>
                </a:solidFill>
              </a:defRPr>
            </a:pPr>
            <a:r>
              <a:t>EDITOR (Chỉnh sửa)</a:t>
            </a:r>
          </a:p>
          <a:p>
            <a:pPr>
              <a:spcBef>
                <a:spcPts val="1000"/>
              </a:spcBef>
              <a:defRPr sz="950">
                <a:solidFill>
                  <a:srgbClr val="1E293B"/>
                </a:solidFill>
              </a:defRPr>
            </a:pPr>
            <a:r>
              <a:t>Quản lý cơ sở dữ liệu Cloud Firestore, cấu hình Firestore rules, kiểm soát dữ liệu sync.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645920"/>
            <a:ext cx="256032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Nguyễn Trung Kiên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Kỹ sư Giao diện (UI/UX Lead)</a:t>
            </a:r>
          </a:p>
          <a:p>
            <a:pPr>
              <a:spcBef>
                <a:spcPts val="600"/>
              </a:spcBef>
              <a:defRPr sz="850">
                <a:solidFill>
                  <a:srgbClr val="64748B"/>
                </a:solidFill>
              </a:defRPr>
            </a:pPr>
            <a:r>
              <a:t>trungkienn10a6@gmail.com</a:t>
            </a:r>
          </a:p>
          <a:p>
            <a:pPr>
              <a:spcBef>
                <a:spcPts val="1200"/>
              </a:spcBef>
              <a:defRPr sz="1050" b="1">
                <a:solidFill>
                  <a:srgbClr val="10B981"/>
                </a:solidFill>
              </a:defRPr>
            </a:pPr>
            <a:r>
              <a:t>EDITOR (Chỉnh sửa)</a:t>
            </a:r>
          </a:p>
          <a:p>
            <a:pPr>
              <a:spcBef>
                <a:spcPts val="1000"/>
              </a:spcBef>
              <a:defRPr sz="950">
                <a:solidFill>
                  <a:srgbClr val="1E293B"/>
                </a:solidFill>
              </a:defRPr>
            </a:pPr>
            <a:r>
              <a:t>Theo dõi trạng thái kết nối Cloud, kiểm tra các chỉ báo UI và tải tệp trên môi trường thực tế.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QUY TRÌNH THIẾT LẬP CHI TIẾT TRÊN FIREBASE CONSOLE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350" b="1">
                <a:solidFill>
                  <a:srgbClr val="1E3A8A"/>
                </a:solidFill>
              </a:defRPr>
            </a:pPr>
            <a:r>
              <a:t>Bước 1: Bật Google Authentication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Vào mục 'Xây dựng' -&gt; chọn 'Authentication' -&gt; bấm 'Bắt đầu'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Chọn nhà cung cấp 'Google' -&gt; Gạt công tắc sang 'Bật (Enabled)'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Cấu hình Email hỗ trợ cho dự án: hha140860@gmail.com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Đặt tên gọi công khai của ứng dụng: StudyDocs DMS -&gt; Bấm 'Lưu'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350" b="1">
                <a:solidFill>
                  <a:srgbClr val="0D9488"/>
                </a:solidFill>
              </a:defRPr>
            </a:pPr>
            <a:r>
              <a:t>Bước 2: Khởi tạo Cloud Firestore Database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Vào mục 'Firestore Database' -&gt; bấm 'Tạo cơ sở dữ liệu'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Chọn Phiên bản Tiêu chuẩn (Standard Edition) -&gt; vị trí: nam5 (Hoa Kỳ)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Cấu hình bảo mật: Chọn 'Bắt đầu ở chế độ thử nghiệm (Test mode)'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Bấm 'Bật (Enable)': Hệ thống sẵn sàng lưu trữ Document Collections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350" b="1">
                <a:solidFill>
                  <a:srgbClr val="F59E0B"/>
                </a:solidFill>
              </a:defRPr>
            </a:pPr>
            <a:r>
              <a:t>Bước 3: Thiết lập Security Rules &amp; Thêm Thành viên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Quy tắc Storage: Phân quyền theo UID, tệp &lt;= 50MB, bắt buộc đăng nhập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Vào 'Cài đặt dự án (Project settings)' -&gt; chọn tab 'Users and permissions'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Bấm 'Thêm thành viên' -&gt; Nhập Gmail 3 bạn: Tuấn, Tuấn, Kiên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Gán vai trò 'Editor' -&gt; Các thành viên chấp nhận lời mời để truy cập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TÍCH HỢP FLUTTERFIRE CLIENT VÀO MÃ NGUỒN DỰ ÁN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study_docs_app/lib/firebase_options.dart</a:t>
            </a:r>
          </a:p>
          <a:p>
            <a:pPr>
              <a:spcBef>
                <a:spcPts val="800"/>
              </a:spcBef>
              <a:defRPr sz="900">
                <a:solidFill>
                  <a:srgbClr val="E2E8F0"/>
                </a:solidFill>
              </a:defRPr>
            </a:pPr>
            <a:r>
              <a:t>class DefaultFirebaseOptions {</a:t>
            </a:r>
            <a:br/>
            <a:r>
              <a:t>  static FirebaseOptions get currentPlatform {</a:t>
            </a:r>
            <a:br/>
            <a:r>
              <a:t>    if (kIsWeb) return web;</a:t>
            </a:r>
            <a:br/>
            <a:r>
              <a:t>    switch (defaultTargetPlatform) {</a:t>
            </a:r>
            <a:br/>
            <a:r>
              <a:t>      case TargetPlatform.android: return android;</a:t>
            </a:r>
            <a:br/>
            <a:r>
              <a:t>      case TargetPlatform.iOS: return ios;</a:t>
            </a:r>
            <a:br/>
            <a:r>
              <a:t>      default: return android;</a:t>
            </a:r>
            <a:br/>
            <a:r>
              <a:t>    }</a:t>
            </a:r>
            <a:br/>
            <a:r>
              <a:t>  }</a:t>
            </a:r>
            <a:br/>
            <a:br/>
            <a:r>
              <a:t>  static const FirebaseOptions android = FirebaseOptions(</a:t>
            </a:r>
            <a:br/>
            <a:r>
              <a:t>    apiKey: 'AIzaSyCyNMrtBDC...',</a:t>
            </a:r>
            <a:br/>
            <a:r>
              <a:t>    appId: '1:825188339992:android:e6605e14dd27...',</a:t>
            </a:r>
            <a:br/>
            <a:r>
              <a:t>    messagingSenderId: '825188339992',</a:t>
            </a:r>
            <a:br/>
            <a:r>
              <a:t>    projectId: 'cashew-study-docs-d5b15',</a:t>
            </a:r>
            <a:br/>
            <a:r>
              <a:t>    storageBucket: 'cashew-study-docs-d5b15.firebasestorage.app',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CÁC BƯỚC ĐỒNG BỘ MÃ NGUỒN NHÓM</a:t>
            </a:r>
          </a:p>
          <a:p>
            <a:pPr>
              <a:spcBef>
                <a:spcPts val="800"/>
              </a:spcBef>
              <a:defRPr b="1" sz="1050">
                <a:solidFill>
                  <a:srgbClr val="0D9488"/>
                </a:solidFill>
              </a:defRPr>
            </a:pPr>
            <a:r>
              <a:t>1. Cài đặt Dependencies trong pubspec.yaml: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firebase_core: ^3.6.0, firebase_auth: ^5.3.1, google_sign_in: ^6.2.1, firebase_storage: ^12.3.4, cloud_firestore: ^5.4.4, connectivity_plus: ^6.0.5.</a:t>
            </a:r>
          </a:p>
          <a:p>
            <a:pPr>
              <a:spcBef>
                <a:spcPts val="800"/>
              </a:spcBef>
              <a:defRPr b="1" sz="1050">
                <a:solidFill>
                  <a:srgbClr val="0D9488"/>
                </a:solidFill>
              </a:defRPr>
            </a:pPr>
            <a:r>
              <a:t>2. Nạp cấu hình Android: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Đặt tệp google-services.json vào study_docs_app/android/app/ để Android Gradle tự động nạp thông tin dự án 825188339992.</a:t>
            </a:r>
          </a:p>
          <a:p>
            <a:pPr>
              <a:spcBef>
                <a:spcPts val="800"/>
              </a:spcBef>
              <a:defRPr b="1" sz="1050">
                <a:solidFill>
                  <a:srgbClr val="0D9488"/>
                </a:solidFill>
              </a:defRPr>
            </a:pPr>
            <a:r>
              <a:t>3. Khởi tạo trong main.dart: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await Firebase.initializeApp(options: DefaultFirebaseOptions.currentPlatform);</a:t>
            </a:r>
          </a:p>
          <a:p>
            <a:pPr>
              <a:spcBef>
                <a:spcPts val="800"/>
              </a:spcBef>
              <a:defRPr b="1" sz="1050">
                <a:solidFill>
                  <a:srgbClr val="0D9488"/>
                </a:solidFill>
              </a:defRPr>
            </a:pPr>
            <a:r>
              <a:t>4. Cơ chế Mock Offline Fallback: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Khi chạy Unit Test hoặc khi thiết bị ngoại tuyến, các service tự động chuyển sang chế độ Mock an toàn, đảm bảo kiểm thử luôn 100% PASS.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MỤC 7: TÌM HIỂU VỀ FIREBASE &amp; CÁCH SETUP TÀI KHOẢN NHÓM</a:t>
            </a:r>
          </a:p>
          <a:p>
            <a:r>
              <a:rPr sz="2200" b="1">
                <a:solidFill>
                  <a:srgbClr val="0F172A"/>
                </a:solidFill>
              </a:rPr>
              <a:t>TỔNG KẾT &amp; DANH MỤC SẢN PHẨM BÀN GIAO MỤC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🎉 HOÀN THÀNH TOÀN DIỆN 7/7 MỤC CHECKLIST THEO YÊU CẦU ĐỀ BÀI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</a:defRPr>
            </a:pPr>
            <a:r>
              <a:t>1. Hạ tầng Cloud Firebase đã sẵn sàng 100%: Project cashew-study-docs-d5b15 (825188339992), kích hoạt Auth Google &amp; Firestore.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</a:defRPr>
            </a:pPr>
            <a:r>
              <a:t>2. Phân quyền thành viên đầy đủ: 4/4 tài khoản Gmail của Nhóm 16 đã được cấp quyền Owner &amp; Editor.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</a:defRPr>
            </a:pPr>
            <a:r>
              <a:t>3. Mã nguồn hợp nhất trên nhánh main: Tích hợp đầy đủ đóng góp của cả 4 thành viên (Huỳnh, Tuấn, Tuấn, Kiên).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</a:defRPr>
            </a:pPr>
            <a:r>
              <a:t>4. Kiểm thử tự động đạt độ tin cậy tuyệt đối: 54/54 test cases PASS 100% (Unit, Integration, Widget tests).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</a:defRPr>
            </a:pPr>
            <a:r>
              <a:t>5. Sản phẩm bàn giao chuyên sâu cho Mục 7:</a:t>
            </a:r>
            <a:br/>
            <a:r>
              <a:t>   • File trình chiếu PowerPoint: SLIDE_MUC_7_FIREBASE_SETUP_NHOM16.pptx (10 slides chất lượng cao)</a:t>
            </a:r>
            <a:br/>
            <a:r>
              <a:t>   • Tài liệu văn bản Microsoft Word: DOCS_MUC_7_FIREBASE_SETUP_NHOM16.docx</a:t>
            </a:r>
            <a:br/>
            <a:r>
              <a:t>   • Báo cáo kiến trúc Cloud tổng hợp: BAO_CAO_TICH_HOP_CLOUD_DMS.docx</a:t>
            </a:r>
            <a:br/>
            <a:r>
              <a:t>   • Repository GitHub: https://github.com/hhuynh2005/Quan_ly_quan_ly_DMS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
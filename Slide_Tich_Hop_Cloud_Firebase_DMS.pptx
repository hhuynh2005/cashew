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448495" cy="4114800"/>
          </a:xfrm>
          <a:prstGeom prst="rect">
            <a:avLst/>
          </a:prstGeom>
          <a:noFill/>
        </p:spPr>
        <p:txBody>
          <a:bodyPr wrap="square">
            <a:spAutoFit/>
          </a:bodyPr>
          <a:lstStyle/>
          <a:p>
            <a:r>
              <a:rPr sz="1200" b="1">
                <a:solidFill>
                  <a:srgbClr val="F59E0B"/>
                </a:solidFill>
                <a:latin typeface="Arial"/>
              </a:rPr>
              <a:t>HỌC PHẦN: PHÁT TRIỂN ỨNG DỤNG DI ĐỘNG (CSE441) — BÀI TẬP NHÓM</a:t>
            </a:r>
          </a:p>
          <a:p>
            <a:pPr>
              <a:spcBef>
                <a:spcPts val="1400"/>
              </a:spcBef>
              <a:spcAft>
                <a:spcPts val="1000"/>
              </a:spcAft>
            </a:pPr>
            <a:r>
              <a:rPr sz="2800" b="1">
                <a:solidFill>
                  <a:srgbClr val="FFFFFF"/>
                </a:solidFill>
                <a:latin typeface="Arial"/>
              </a:rPr>
              <a:t>PHÂN TÍCH VÀ LẬP PHƯƠNG ÁN TÍCH HỢP CLOUD
CHO HỆ THỐNG QUẢN LÝ TÀI LIỆU (DMS)</a:t>
            </a:r>
          </a:p>
          <a:p>
            <a:pPr>
              <a:spcAft>
                <a:spcPts val="2400"/>
              </a:spcAft>
            </a:pPr>
            <a:r>
              <a:rPr sz="1400">
                <a:solidFill>
                  <a:srgbClr val="94A3B8"/>
                </a:solidFill>
                <a:latin typeface="Arial"/>
              </a:rPr>
              <a:t>Nghiên cứu Hệ sinh thái Cloud Storage &amp; Hướng dẫn Tích hợp Firebase (Google Auth &amp; Storage) cho Flutter</a:t>
            </a:r>
          </a:p>
          <a:p>
            <a:r>
              <a:rPr sz="1100" b="1">
                <a:solidFill>
                  <a:srgbClr val="0284C7"/>
                </a:solidFill>
                <a:latin typeface="Arial"/>
              </a:rPr>
              <a:t>ĐƠN VỊ THỰC HIỆN: NHÓM 16 — LỚP 65KTPM — KHOA CÔNG NGHỆ THÔNG TIN — ĐẠI HỌC THỦY LỢI (TLU)</a:t>
            </a:r>
          </a:p>
          <a:p>
            <a:pPr>
              <a:spcBef>
                <a:spcPts val="600"/>
              </a:spcBef>
            </a:pPr>
            <a:r>
              <a:rPr sz="1100">
                <a:solidFill>
                  <a:srgbClr val="FFFFFF"/>
                </a:solidFill>
                <a:latin typeface="Arial"/>
              </a:rPr>
              <a:t>Thành viên: Nguyễn Văn Huỳnh (NT) | Lê Anh Tuấn | Nguyễn Trung Kiên | Trần Anh Tuấn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MỤC TIÊU &amp; ĐỐI SOÁT CHECKLIST 7 MỤC ĐỀ BÀI</a:t>
            </a:r>
          </a:p>
        </p:txBody>
      </p:sp>
      <p:sp>
        <p:nvSpPr>
          <p:cNvPr id="4" name="Rounded Rectangle 3"/>
          <p:cNvSpPr/>
          <p:nvPr/>
        </p:nvSpPr>
        <p:spPr>
          <a:xfrm>
            <a:off x="731520" y="146304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4983480" cy="914400"/>
          </a:xfrm>
          <a:prstGeom prst="rect">
            <a:avLst/>
          </a:prstGeom>
          <a:noFill/>
        </p:spPr>
        <p:txBody>
          <a:bodyPr wrap="square">
            <a:spAutoFit/>
          </a:bodyPr>
          <a:lstStyle/>
          <a:p>
            <a:r>
              <a:rPr sz="1100" b="1">
                <a:solidFill>
                  <a:srgbClr val="1E3A8A"/>
                </a:solidFill>
                <a:latin typeface="Arial"/>
              </a:rPr>
              <a:t>✅ Mục 1: </a:t>
            </a:r>
            <a:r>
              <a:rPr sz="1000">
                <a:solidFill>
                  <a:srgbClr val="1E293B"/>
                </a:solidFill>
                <a:latin typeface="Arial"/>
              </a:rPr>
              <a:t>Phân tích 4 thành phần cốt lõi: Frontend, Backend API, Metadata DB, File Storage.</a:t>
            </a:r>
          </a:p>
        </p:txBody>
      </p:sp>
      <p:sp>
        <p:nvSpPr>
          <p:cNvPr id="6" name="Rounded Rectangle 5"/>
          <p:cNvSpPr/>
          <p:nvPr/>
        </p:nvSpPr>
        <p:spPr>
          <a:xfrm>
            <a:off x="6172200" y="146304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54480"/>
            <a:ext cx="4983480" cy="914400"/>
          </a:xfrm>
          <a:prstGeom prst="rect">
            <a:avLst/>
          </a:prstGeom>
          <a:noFill/>
        </p:spPr>
        <p:txBody>
          <a:bodyPr wrap="square">
            <a:spAutoFit/>
          </a:bodyPr>
          <a:lstStyle/>
          <a:p>
            <a:r>
              <a:rPr sz="1100" b="1">
                <a:solidFill>
                  <a:srgbClr val="1E3A8A"/>
                </a:solidFill>
                <a:latin typeface="Arial"/>
              </a:rPr>
              <a:t>✅ Mục 2: </a:t>
            </a:r>
            <a:r>
              <a:rPr sz="1000">
                <a:solidFill>
                  <a:srgbClr val="1E293B"/>
                </a:solidFill>
                <a:latin typeface="Arial"/>
              </a:rPr>
              <a:t>Chỉ rõ 5 điểm nghẽn hạ tầng truyền thống: I/O Disk, Scale-up, SPOF, Ransomware, Chi phí.</a:t>
            </a:r>
          </a:p>
        </p:txBody>
      </p:sp>
      <p:sp>
        <p:nvSpPr>
          <p:cNvPr id="8" name="Rounded Rectangle 7"/>
          <p:cNvSpPr/>
          <p:nvPr/>
        </p:nvSpPr>
        <p:spPr>
          <a:xfrm>
            <a:off x="731520" y="269748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788920"/>
            <a:ext cx="4983480" cy="914400"/>
          </a:xfrm>
          <a:prstGeom prst="rect">
            <a:avLst/>
          </a:prstGeom>
          <a:noFill/>
        </p:spPr>
        <p:txBody>
          <a:bodyPr wrap="square">
            <a:spAutoFit/>
          </a:bodyPr>
          <a:lstStyle/>
          <a:p>
            <a:r>
              <a:rPr sz="1100" b="1">
                <a:solidFill>
                  <a:srgbClr val="1E3A8A"/>
                </a:solidFill>
                <a:latin typeface="Arial"/>
              </a:rPr>
              <a:t>✅ Mục 3: </a:t>
            </a:r>
            <a:r>
              <a:rPr sz="1000">
                <a:solidFill>
                  <a:srgbClr val="1E293B"/>
                </a:solidFill>
                <a:latin typeface="Arial"/>
              </a:rPr>
              <a:t>Lựa chọn mô hình Cloud (Public Cloud) &amp; dịch vụ đối sánh (AWS S3, Azure, Google Cloud).</a:t>
            </a:r>
          </a:p>
        </p:txBody>
      </p:sp>
      <p:sp>
        <p:nvSpPr>
          <p:cNvPr id="10" name="Rounded Rectangle 9"/>
          <p:cNvSpPr/>
          <p:nvPr/>
        </p:nvSpPr>
        <p:spPr>
          <a:xfrm>
            <a:off x="6172200" y="269748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788920"/>
            <a:ext cx="4983480" cy="914400"/>
          </a:xfrm>
          <a:prstGeom prst="rect">
            <a:avLst/>
          </a:prstGeom>
          <a:noFill/>
        </p:spPr>
        <p:txBody>
          <a:bodyPr wrap="square">
            <a:spAutoFit/>
          </a:bodyPr>
          <a:lstStyle/>
          <a:p>
            <a:r>
              <a:rPr sz="1100" b="1">
                <a:solidFill>
                  <a:srgbClr val="1E3A8A"/>
                </a:solidFill>
                <a:latin typeface="Arial"/>
              </a:rPr>
              <a:t>✅ Mục 4: </a:t>
            </a:r>
            <a:r>
              <a:rPr sz="1000">
                <a:solidFill>
                  <a:srgbClr val="1E293B"/>
                </a:solidFill>
                <a:latin typeface="Arial"/>
              </a:rPr>
              <a:t>Thiết kế sơ đồ kiến trúc Cloud và luồng dữ liệu Direct Upload / Streaming.</a:t>
            </a:r>
          </a:p>
        </p:txBody>
      </p:sp>
      <p:sp>
        <p:nvSpPr>
          <p:cNvPr id="12" name="Rounded Rectangle 11"/>
          <p:cNvSpPr/>
          <p:nvPr/>
        </p:nvSpPr>
        <p:spPr>
          <a:xfrm>
            <a:off x="731520" y="393192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4983480" cy="914400"/>
          </a:xfrm>
          <a:prstGeom prst="rect">
            <a:avLst/>
          </a:prstGeom>
          <a:noFill/>
        </p:spPr>
        <p:txBody>
          <a:bodyPr wrap="square">
            <a:spAutoFit/>
          </a:bodyPr>
          <a:lstStyle/>
          <a:p>
            <a:r>
              <a:rPr sz="1100" b="1">
                <a:solidFill>
                  <a:srgbClr val="1E3A8A"/>
                </a:solidFill>
                <a:latin typeface="Arial"/>
              </a:rPr>
              <a:t>✅ Mục 5: </a:t>
            </a:r>
            <a:r>
              <a:rPr sz="1000">
                <a:solidFill>
                  <a:srgbClr val="1E293B"/>
                </a:solidFill>
                <a:latin typeface="Arial"/>
              </a:rPr>
              <a:t>Đánh giá 3 trụ cột tác động: An toàn Bảo mật, Chi phí vận hành (TCO), Hiệu suất.</a:t>
            </a:r>
          </a:p>
        </p:txBody>
      </p:sp>
      <p:sp>
        <p:nvSpPr>
          <p:cNvPr id="14" name="Rounded Rectangle 13"/>
          <p:cNvSpPr/>
          <p:nvPr/>
        </p:nvSpPr>
        <p:spPr>
          <a:xfrm>
            <a:off x="6172200" y="3931920"/>
            <a:ext cx="52578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023360"/>
            <a:ext cx="4983480" cy="914400"/>
          </a:xfrm>
          <a:prstGeom prst="rect">
            <a:avLst/>
          </a:prstGeom>
          <a:noFill/>
        </p:spPr>
        <p:txBody>
          <a:bodyPr wrap="square">
            <a:spAutoFit/>
          </a:bodyPr>
          <a:lstStyle/>
          <a:p>
            <a:r>
              <a:rPr sz="1100" b="1">
                <a:solidFill>
                  <a:srgbClr val="1E3A8A"/>
                </a:solidFill>
                <a:latin typeface="Arial"/>
              </a:rPr>
              <a:t>✅ Mục 6: </a:t>
            </a:r>
            <a:r>
              <a:rPr sz="1000">
                <a:solidFill>
                  <a:srgbClr val="1E293B"/>
                </a:solidFill>
                <a:latin typeface="Arial"/>
              </a:rPr>
              <a:t>Khai phá giải pháp Firebase: Google Sign-In &amp; Firebase Storage cho ứng dụng Flutter.</a:t>
            </a:r>
          </a:p>
        </p:txBody>
      </p:sp>
      <p:sp>
        <p:nvSpPr>
          <p:cNvPr id="16" name="Rounded Rectangle 15"/>
          <p:cNvSpPr/>
          <p:nvPr/>
        </p:nvSpPr>
        <p:spPr>
          <a:xfrm>
            <a:off x="731520" y="5166360"/>
            <a:ext cx="10728655"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57800"/>
            <a:ext cx="10454335" cy="914400"/>
          </a:xfrm>
          <a:prstGeom prst="rect">
            <a:avLst/>
          </a:prstGeom>
          <a:noFill/>
        </p:spPr>
        <p:txBody>
          <a:bodyPr wrap="square">
            <a:spAutoFit/>
          </a:bodyPr>
          <a:lstStyle/>
          <a:p>
            <a:r>
              <a:rPr sz="1100" b="1">
                <a:solidFill>
                  <a:srgbClr val="1E3A8A"/>
                </a:solidFill>
                <a:latin typeface="Arial"/>
              </a:rPr>
              <a:t>✅ Mục 7: </a:t>
            </a:r>
            <a:r>
              <a:rPr sz="1000">
                <a:solidFill>
                  <a:srgbClr val="1E293B"/>
                </a:solidFill>
                <a:latin typeface="Arial"/>
              </a:rPr>
              <a:t>Tạo bộ Slide báo cáo, cập nhật README.md đồ án và kế hoạch phân công bài tập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1. PHÂN TÍCH 4 THÀNH PHẦN CỐT LÕI CỦA HỆ THỐNG DMS</a:t>
            </a:r>
          </a:p>
        </p:txBody>
      </p:sp>
      <p:sp>
        <p:nvSpPr>
          <p:cNvPr id="4" name="Rounded Rectangle 3"/>
          <p:cNvSpPr/>
          <p:nvPr/>
        </p:nvSpPr>
        <p:spPr>
          <a:xfrm>
            <a:off x="731520" y="1463040"/>
            <a:ext cx="25603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2286000" cy="4572000"/>
          </a:xfrm>
          <a:prstGeom prst="rect">
            <a:avLst/>
          </a:prstGeom>
          <a:noFill/>
        </p:spPr>
        <p:txBody>
          <a:bodyPr wrap="square">
            <a:spAutoFit/>
          </a:bodyPr>
          <a:lstStyle/>
          <a:p>
            <a:r>
              <a:rPr sz="1100" b="1">
                <a:solidFill>
                  <a:srgbClr val="1E3A8A"/>
                </a:solidFill>
                <a:latin typeface="Arial"/>
              </a:rPr>
              <a:t>TẦNG 1: FRONTEND</a:t>
            </a:r>
          </a:p>
          <a:p>
            <a:pPr>
              <a:spcAft>
                <a:spcPts val="800"/>
              </a:spcAft>
            </a:pPr>
            <a:r>
              <a:rPr sz="950" b="1">
                <a:solidFill>
                  <a:srgbClr val="0284C7"/>
                </a:solidFill>
                <a:latin typeface="Arial"/>
              </a:rPr>
              <a:t>Web SPA &amp; Mobile Flutter</a:t>
            </a:r>
          </a:p>
          <a:p>
            <a:r>
              <a:rPr sz="900">
                <a:solidFill>
                  <a:srgbClr val="1E293B"/>
                </a:solidFill>
                <a:latin typeface="Arial"/>
              </a:rPr>
              <a:t>• Giao diện tra cứu Live Search không dấu.
• Danh mục môn học, tags, phân loại.
• Trình đọc tài liệu PDF inline, audio/video.
• Kéo-thả tải lên kèm thanh tiến trình.
👉 Tính sẵn sàng Cloud: 95% (Static Asset).</a:t>
            </a:r>
          </a:p>
        </p:txBody>
      </p:sp>
      <p:sp>
        <p:nvSpPr>
          <p:cNvPr id="6" name="Rounded Rectangle 5"/>
          <p:cNvSpPr/>
          <p:nvPr/>
        </p:nvSpPr>
        <p:spPr>
          <a:xfrm>
            <a:off x="3429000" y="1463040"/>
            <a:ext cx="25603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00200"/>
            <a:ext cx="2286000" cy="4572000"/>
          </a:xfrm>
          <a:prstGeom prst="rect">
            <a:avLst/>
          </a:prstGeom>
          <a:noFill/>
        </p:spPr>
        <p:txBody>
          <a:bodyPr wrap="square">
            <a:spAutoFit/>
          </a:bodyPr>
          <a:lstStyle/>
          <a:p>
            <a:r>
              <a:rPr sz="1100" b="1">
                <a:solidFill>
                  <a:srgbClr val="1E3A8A"/>
                </a:solidFill>
                <a:latin typeface="Arial"/>
              </a:rPr>
              <a:t>TẦNG 2: BACKEND API</a:t>
            </a:r>
          </a:p>
          <a:p>
            <a:pPr>
              <a:spcAft>
                <a:spcPts val="800"/>
              </a:spcAft>
            </a:pPr>
            <a:r>
              <a:rPr sz="950" b="1">
                <a:solidFill>
                  <a:srgbClr val="0284C7"/>
                </a:solidFill>
                <a:latin typeface="Arial"/>
              </a:rPr>
              <a:t>Node.js / FastAPI / Spring Boot</a:t>
            </a:r>
          </a:p>
          <a:p>
            <a:r>
              <a:rPr sz="900">
                <a:solidFill>
                  <a:srgbClr val="1E293B"/>
                </a:solidFill>
                <a:latin typeface="Arial"/>
              </a:rPr>
              <a:t>• Xác thực JWT &amp; phân quyền vai trò (RBAC).
• Tiếp nhận tệp, quét virus, kiểm tra MIME.
• Tác vụ nền: Trích xuất OCR, sinh Thumbnail.
• Quản lý phiên bản &amp; Audit Trail.
👉 Tính sẵn sàng Cloud: 85% (Stateless API).</a:t>
            </a:r>
          </a:p>
        </p:txBody>
      </p:sp>
      <p:sp>
        <p:nvSpPr>
          <p:cNvPr id="8" name="Rounded Rectangle 7"/>
          <p:cNvSpPr/>
          <p:nvPr/>
        </p:nvSpPr>
        <p:spPr>
          <a:xfrm>
            <a:off x="6126480" y="1463040"/>
            <a:ext cx="25603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00200"/>
            <a:ext cx="2286000" cy="4572000"/>
          </a:xfrm>
          <a:prstGeom prst="rect">
            <a:avLst/>
          </a:prstGeom>
          <a:noFill/>
        </p:spPr>
        <p:txBody>
          <a:bodyPr wrap="square">
            <a:spAutoFit/>
          </a:bodyPr>
          <a:lstStyle/>
          <a:p>
            <a:r>
              <a:rPr sz="1100" b="1">
                <a:solidFill>
                  <a:srgbClr val="1E3A8A"/>
                </a:solidFill>
                <a:latin typeface="Arial"/>
              </a:rPr>
              <a:t>TẦNG 3: METADATA DB</a:t>
            </a:r>
          </a:p>
          <a:p>
            <a:pPr>
              <a:spcAft>
                <a:spcPts val="800"/>
              </a:spcAft>
            </a:pPr>
            <a:r>
              <a:rPr sz="950" b="1">
                <a:solidFill>
                  <a:srgbClr val="0284C7"/>
                </a:solidFill>
                <a:latin typeface="Arial"/>
              </a:rPr>
              <a:t>PostgreSQL / MySQL / SQLite</a:t>
            </a:r>
          </a:p>
          <a:p>
            <a:r>
              <a:rPr sz="900">
                <a:solidFill>
                  <a:srgbClr val="1E293B"/>
                </a:solidFill>
                <a:latin typeface="Arial"/>
              </a:rPr>
              <a:t>• Lưu trữ bảng documents, subjects.
• Quản lý kích thước, MIME, Checksum SHA-256.
• Bảng delete_logs phục vụ kiểm toán đồng bộ.
• Quan hệ toàn vẹn dữ liệu (ACID).
👉 Tính sẵn sàng Cloud: 90% (Managed RDS).</a:t>
            </a:r>
          </a:p>
        </p:txBody>
      </p:sp>
      <p:sp>
        <p:nvSpPr>
          <p:cNvPr id="10" name="Rounded Rectangle 9"/>
          <p:cNvSpPr/>
          <p:nvPr/>
        </p:nvSpPr>
        <p:spPr>
          <a:xfrm>
            <a:off x="8823960" y="1463040"/>
            <a:ext cx="25603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00200"/>
            <a:ext cx="2286000" cy="4572000"/>
          </a:xfrm>
          <a:prstGeom prst="rect">
            <a:avLst/>
          </a:prstGeom>
          <a:noFill/>
        </p:spPr>
        <p:txBody>
          <a:bodyPr wrap="square">
            <a:spAutoFit/>
          </a:bodyPr>
          <a:lstStyle/>
          <a:p>
            <a:r>
              <a:rPr sz="1100" b="1">
                <a:solidFill>
                  <a:srgbClr val="1E3A8A"/>
                </a:solidFill>
                <a:latin typeface="Arial"/>
              </a:rPr>
              <a:t>TẦNG 4: FILE STORAGE</a:t>
            </a:r>
          </a:p>
          <a:p>
            <a:pPr>
              <a:spcAft>
                <a:spcPts val="800"/>
              </a:spcAft>
            </a:pPr>
            <a:r>
              <a:rPr sz="950" b="1">
                <a:solidFill>
                  <a:srgbClr val="0284C7"/>
                </a:solidFill>
                <a:latin typeface="Arial"/>
              </a:rPr>
              <a:t>Local Disk / Mạng NAS / SAN</a:t>
            </a:r>
          </a:p>
          <a:p>
            <a:r>
              <a:rPr sz="900">
                <a:solidFill>
                  <a:srgbClr val="1E293B"/>
                </a:solidFill>
                <a:latin typeface="Arial"/>
              </a:rPr>
              <a:t>• Lưu tệp nhị phân trên đĩa vật lý máy chủ.
• Backend phải mở luồng đọc/ghi trực tiếp.
• Cấu trúc thư mục: /uploads/{year}/{doc}.pdf.
• Nguy cơ quá tải dung lượng và I/O đĩa.
👉 Tính sẵn sàng: Cần chuyển sang S3/Cloud 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2. NĂM ĐIỂM NGHẼN CỦA HẠ TẦNG TRUYỀN THỐNG (ON-PREMISES)</a:t>
            </a:r>
          </a:p>
        </p:txBody>
      </p:sp>
      <p:sp>
        <p:nvSpPr>
          <p:cNvPr id="4" name="Rounded Rectangle 3"/>
          <p:cNvSpPr/>
          <p:nvPr/>
        </p:nvSpPr>
        <p:spPr>
          <a:xfrm>
            <a:off x="731520" y="1463040"/>
            <a:ext cx="10728655" cy="868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10332720" cy="731520"/>
          </a:xfrm>
          <a:prstGeom prst="rect">
            <a:avLst/>
          </a:prstGeom>
          <a:noFill/>
        </p:spPr>
        <p:txBody>
          <a:bodyPr wrap="square">
            <a:spAutoFit/>
          </a:bodyPr>
          <a:lstStyle/>
          <a:p>
            <a:r>
              <a:rPr sz="1100" b="1">
                <a:solidFill>
                  <a:srgbClr val="DC2626"/>
                </a:solidFill>
                <a:latin typeface="Arial"/>
              </a:rPr>
              <a:t>⚠️ 1. GIỚI HẠN DUNG LƯỢNG &amp; NGHẼN I/O: </a:t>
            </a:r>
            <a:r>
              <a:rPr sz="950">
                <a:solidFill>
                  <a:srgbClr val="1E293B"/>
                </a:solidFill>
                <a:latin typeface="Arial"/>
              </a:rPr>
              <a:t>Đĩa cứng vật lý có dung lượng hữu hạn. Khi hàng nghìn sinh viên tải tài liệu cùng lúc mùa thi, Disk I/O chạm ngưỡng 100%, gây thắt cổ chai toàn hệ thống.</a:t>
            </a:r>
          </a:p>
        </p:txBody>
      </p:sp>
      <p:sp>
        <p:nvSpPr>
          <p:cNvPr id="6" name="Rounded Rectangle 5"/>
          <p:cNvSpPr/>
          <p:nvPr/>
        </p:nvSpPr>
        <p:spPr>
          <a:xfrm>
            <a:off x="731520" y="2423160"/>
            <a:ext cx="10728655" cy="868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96312"/>
            <a:ext cx="10332720" cy="731520"/>
          </a:xfrm>
          <a:prstGeom prst="rect">
            <a:avLst/>
          </a:prstGeom>
          <a:noFill/>
        </p:spPr>
        <p:txBody>
          <a:bodyPr wrap="square">
            <a:spAutoFit/>
          </a:bodyPr>
          <a:lstStyle/>
          <a:p>
            <a:r>
              <a:rPr sz="1100" b="1">
                <a:solidFill>
                  <a:srgbClr val="DC2626"/>
                </a:solidFill>
                <a:latin typeface="Arial"/>
              </a:rPr>
              <a:t>⚠️ 2. KHÓ KHĂN KHI MỞ RỘNG (SCALE-UP): </a:t>
            </a:r>
            <a:r>
              <a:rPr sz="950">
                <a:solidFill>
                  <a:srgbClr val="1E293B"/>
                </a:solidFill>
                <a:latin typeface="Arial"/>
              </a:rPr>
              <a:t>Chỉ có thể nâng cấp đĩa to hơn hoặc RAM lớn hơn (Scale-up) với chi phí cấp số nhân. Không thể tự động mở rộng theo thời gian thực (Auto-scaling).</a:t>
            </a:r>
          </a:p>
        </p:txBody>
      </p:sp>
      <p:sp>
        <p:nvSpPr>
          <p:cNvPr id="8" name="Rounded Rectangle 7"/>
          <p:cNvSpPr/>
          <p:nvPr/>
        </p:nvSpPr>
        <p:spPr>
          <a:xfrm>
            <a:off x="731520" y="3383280"/>
            <a:ext cx="10728655" cy="868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56432"/>
            <a:ext cx="10332720" cy="731520"/>
          </a:xfrm>
          <a:prstGeom prst="rect">
            <a:avLst/>
          </a:prstGeom>
          <a:noFill/>
        </p:spPr>
        <p:txBody>
          <a:bodyPr wrap="square">
            <a:spAutoFit/>
          </a:bodyPr>
          <a:lstStyle/>
          <a:p>
            <a:r>
              <a:rPr sz="1100" b="1">
                <a:solidFill>
                  <a:srgbClr val="DC2626"/>
                </a:solidFill>
                <a:latin typeface="Arial"/>
              </a:rPr>
              <a:t>⚠️ 3. ĐIỂM CHẾT DUY NHẤT (SPOF) &amp; VPN: </a:t>
            </a:r>
            <a:r>
              <a:rPr sz="950">
                <a:solidFill>
                  <a:srgbClr val="1E293B"/>
                </a:solidFill>
                <a:latin typeface="Arial"/>
              </a:rPr>
              <a:t>Toàn bộ dịch vụ nằm tại một phòng máy chủ. Hỏng hóc vật lý sẽ sập toàn bộ. Truy cập từ xa bắt buộc qua VPN phức tạp, tốc độ chậm và hay gián đoạn.</a:t>
            </a:r>
          </a:p>
        </p:txBody>
      </p:sp>
      <p:sp>
        <p:nvSpPr>
          <p:cNvPr id="10" name="Rounded Rectangle 9"/>
          <p:cNvSpPr/>
          <p:nvPr/>
        </p:nvSpPr>
        <p:spPr>
          <a:xfrm>
            <a:off x="731520" y="4343400"/>
            <a:ext cx="10728655" cy="868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16552"/>
            <a:ext cx="10332720" cy="731520"/>
          </a:xfrm>
          <a:prstGeom prst="rect">
            <a:avLst/>
          </a:prstGeom>
          <a:noFill/>
        </p:spPr>
        <p:txBody>
          <a:bodyPr wrap="square">
            <a:spAutoFit/>
          </a:bodyPr>
          <a:lstStyle/>
          <a:p>
            <a:r>
              <a:rPr sz="1100" b="1">
                <a:solidFill>
                  <a:srgbClr val="DC2626"/>
                </a:solidFill>
                <a:latin typeface="Arial"/>
              </a:rPr>
              <a:t>⚠️ 4. NGUY CƠ THẢM HỌA &amp; RANSOMWARE: </a:t>
            </a:r>
            <a:r>
              <a:rPr sz="950">
                <a:solidFill>
                  <a:srgbClr val="1E293B"/>
                </a:solidFill>
                <a:latin typeface="Arial"/>
              </a:rPr>
              <a:t>Tệp lưu đường dẫn tĩnh trên máy chủ dễ bị mã hóa Ransomware. Khâu sao lưu băng từ/đĩa ngoài thủ công, RPO và RTO kéo dài từ nhiều giờ đến nhiều ngày.</a:t>
            </a:r>
          </a:p>
        </p:txBody>
      </p:sp>
      <p:sp>
        <p:nvSpPr>
          <p:cNvPr id="12" name="Rounded Rectangle 11"/>
          <p:cNvSpPr/>
          <p:nvPr/>
        </p:nvSpPr>
        <p:spPr>
          <a:xfrm>
            <a:off x="731520" y="5303520"/>
            <a:ext cx="10728655" cy="868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76672"/>
            <a:ext cx="10332720" cy="731520"/>
          </a:xfrm>
          <a:prstGeom prst="rect">
            <a:avLst/>
          </a:prstGeom>
          <a:noFill/>
        </p:spPr>
        <p:txBody>
          <a:bodyPr wrap="square">
            <a:spAutoFit/>
          </a:bodyPr>
          <a:lstStyle/>
          <a:p>
            <a:r>
              <a:rPr sz="1100" b="1">
                <a:solidFill>
                  <a:srgbClr val="DC2626"/>
                </a:solidFill>
                <a:latin typeface="Arial"/>
              </a:rPr>
              <a:t>⚠️ 5. GÁNH NẶNG CHI PHÍ CAPEX &amp; OPEX: </a:t>
            </a:r>
            <a:r>
              <a:rPr sz="950">
                <a:solidFill>
                  <a:srgbClr val="1E293B"/>
                </a:solidFill>
                <a:latin typeface="Arial"/>
              </a:rPr>
              <a:t>Chi phí mua sắm phần cứng máy chủ ban đầu cực lớn. Chi phí ẩn khổng lồ: điện điều hòa 24/7, phòng server, khấu hao, nhân sự IT bảo trì thiết bị.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3. LỰA CHỌN MÔ HÌNH CLOUD &amp; DỊCH VỤ ĐỐI SÁNH</a:t>
            </a:r>
          </a:p>
        </p:txBody>
      </p:sp>
      <p:sp>
        <p:nvSpPr>
          <p:cNvPr id="4" name="Rounded Rectangle 3"/>
          <p:cNvSpPr/>
          <p:nvPr/>
        </p:nvSpPr>
        <p:spPr>
          <a:xfrm>
            <a:off x="731520" y="1463040"/>
            <a:ext cx="52578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92040" cy="4572000"/>
          </a:xfrm>
          <a:prstGeom prst="rect">
            <a:avLst/>
          </a:prstGeom>
          <a:noFill/>
        </p:spPr>
        <p:txBody>
          <a:bodyPr wrap="square">
            <a:spAutoFit/>
          </a:bodyPr>
          <a:lstStyle/>
          <a:p>
            <a:r>
              <a:rPr sz="1200" b="1">
                <a:solidFill>
                  <a:srgbClr val="1E3A8A"/>
                </a:solidFill>
                <a:latin typeface="Arial"/>
              </a:rPr>
              <a:t>LỰA CHỌN: PUBLIC CLOUD (ĐÁM MÂY CÔNG CỘNG)</a:t>
            </a:r>
          </a:p>
          <a:p>
            <a:pPr>
              <a:spcBef>
                <a:spcPts val="800"/>
              </a:spcBef>
            </a:pPr>
            <a:r>
              <a:rPr sz="1000">
                <a:solidFill>
                  <a:srgbClr val="1E293B"/>
                </a:solidFill>
                <a:latin typeface="Arial"/>
              </a:rPr>
              <a:t>• Lý do lựa chọn: Tài liệu học tập không thuộc dữ liệu mật quốc gia, cần phân phối diện rộng cho hàng nghìn sinh viên với chi phí tối ưu nhất.
• Loại bỏ 100% chi phí đầu tư phòng máy và máy chủ vật lý ban đầu.
• Sẵn sàng CDN toàn cầu đưa tài liệu về gần sinh viên nhất.
• Độ bền bỉ dữ liệu đạt chuẩn 99.999999999% (11 số 9).</a:t>
            </a:r>
          </a:p>
        </p:txBody>
      </p:sp>
      <p:sp>
        <p:nvSpPr>
          <p:cNvPr id="6" name="Rounded Rectangle 5"/>
          <p:cNvSpPr/>
          <p:nvPr/>
        </p:nvSpPr>
        <p:spPr>
          <a:xfrm>
            <a:off x="6217920" y="1463040"/>
            <a:ext cx="5242255"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92040" cy="4572000"/>
          </a:xfrm>
          <a:prstGeom prst="rect">
            <a:avLst/>
          </a:prstGeom>
          <a:noFill/>
        </p:spPr>
        <p:txBody>
          <a:bodyPr wrap="square">
            <a:spAutoFit/>
          </a:bodyPr>
          <a:lstStyle/>
          <a:p>
            <a:r>
              <a:rPr sz="1200" b="1">
                <a:solidFill>
                  <a:srgbClr val="1E3A8A"/>
                </a:solidFill>
                <a:latin typeface="Arial"/>
              </a:rPr>
              <a:t>SO SÁNH CÁC DỊCH VỤ CLOUD OBJECT STORAGE</a:t>
            </a:r>
          </a:p>
          <a:p>
            <a:pPr>
              <a:spcBef>
                <a:spcPts val="800"/>
              </a:spcBef>
            </a:pPr>
            <a:r>
              <a:rPr sz="1000" b="1">
                <a:solidFill>
                  <a:srgbClr val="0284C7"/>
                </a:solidFill>
                <a:latin typeface="Arial"/>
              </a:rPr>
              <a:t>🔹 Amazon S3 (AWS): </a:t>
            </a:r>
            <a:r>
              <a:rPr sz="950">
                <a:solidFill>
                  <a:srgbClr val="1E293B"/>
                </a:solidFill>
                <a:latin typeface="Arial"/>
              </a:rPr>
              <a:t>Chuẩn mực công nghiệp, đầy đủ phân tầng vòng đời (Standard, IA, Glacier Deep Archive tiết kiệm 90%), Pre-signed URL cực mạnh.</a:t>
            </a:r>
          </a:p>
          <a:p>
            <a:pPr>
              <a:spcBef>
                <a:spcPts val="800"/>
              </a:spcBef>
            </a:pPr>
            <a:r>
              <a:rPr sz="1000" b="1">
                <a:solidFill>
                  <a:srgbClr val="0284C7"/>
                </a:solidFill>
                <a:latin typeface="Arial"/>
              </a:rPr>
              <a:t>🔹 Google Cloud Storage / Firebase: </a:t>
            </a:r>
            <a:r>
              <a:rPr sz="950">
                <a:solidFill>
                  <a:srgbClr val="1E293B"/>
                </a:solidFill>
                <a:latin typeface="Arial"/>
              </a:rPr>
              <a:t>Tối ưu hóa đặc biệt cho ứng dụng Flutter và Mobile qua Firebase SDK, tích hợp tự nhiên với Google Sign-In, thiết lập cực nhanh.</a:t>
            </a:r>
          </a:p>
          <a:p>
            <a:pPr>
              <a:spcBef>
                <a:spcPts val="800"/>
              </a:spcBef>
            </a:pPr>
            <a:r>
              <a:rPr sz="1000" b="1">
                <a:solidFill>
                  <a:srgbClr val="0284C7"/>
                </a:solidFill>
                <a:latin typeface="Arial"/>
              </a:rPr>
              <a:t>🔹 Azure Blob Storage: </a:t>
            </a:r>
            <a:r>
              <a:rPr sz="950">
                <a:solidFill>
                  <a:srgbClr val="1E293B"/>
                </a:solidFill>
                <a:latin typeface="Arial"/>
              </a:rPr>
              <a:t>Thích hợp cho doanh nghiệp tích hợp sâu hệ sinh thái Microsoft Office 365 và Active Directory.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4. SƠ ĐỒ KIẾN TRÚC CLOUD &amp; LUỒNG DIRECT UPLOAD</a:t>
            </a:r>
          </a:p>
        </p:txBody>
      </p:sp>
      <p:pic>
        <p:nvPicPr>
          <p:cNvPr id="4" name="Picture 3" descr="cloud_dms_architecture.png"/>
          <p:cNvPicPr>
            <a:picLocks noChangeAspect="1"/>
          </p:cNvPicPr>
          <p:nvPr/>
        </p:nvPicPr>
        <p:blipFill>
          <a:blip r:embed="rId2"/>
          <a:stretch>
            <a:fillRect/>
          </a:stretch>
        </p:blipFill>
        <p:spPr>
          <a:xfrm>
            <a:off x="731520" y="1463040"/>
            <a:ext cx="6583680" cy="4094053"/>
          </a:xfrm>
          <a:prstGeom prst="rect">
            <a:avLst/>
          </a:prstGeom>
        </p:spPr>
      </p:pic>
      <p:sp>
        <p:nvSpPr>
          <p:cNvPr id="5" name="Rounded Rectangle 4"/>
          <p:cNvSpPr/>
          <p:nvPr/>
        </p:nvSpPr>
        <p:spPr>
          <a:xfrm>
            <a:off x="7498079" y="1463040"/>
            <a:ext cx="3962095"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600200"/>
            <a:ext cx="3611880" cy="4572000"/>
          </a:xfrm>
          <a:prstGeom prst="rect">
            <a:avLst/>
          </a:prstGeom>
          <a:noFill/>
        </p:spPr>
        <p:txBody>
          <a:bodyPr wrap="square">
            <a:spAutoFit/>
          </a:bodyPr>
          <a:lstStyle/>
          <a:p>
            <a:r>
              <a:rPr sz="1200" b="1">
                <a:solidFill>
                  <a:srgbClr val="1E3A8A"/>
                </a:solidFill>
                <a:latin typeface="Arial"/>
              </a:rPr>
              <a:t>CƠ CHẾ DIRECT UPLOAD PATTERN</a:t>
            </a:r>
          </a:p>
          <a:p>
            <a:pPr>
              <a:spcBef>
                <a:spcPts val="600"/>
              </a:spcBef>
            </a:pPr>
            <a:r>
              <a:rPr sz="950" b="1">
                <a:solidFill>
                  <a:srgbClr val="0284C7"/>
                </a:solidFill>
                <a:latin typeface="Arial"/>
              </a:rPr>
              <a:t>⚡ 1. Yêu cầu tải lên: </a:t>
            </a:r>
            <a:r>
              <a:rPr sz="900">
                <a:solidFill>
                  <a:srgbClr val="1E293B"/>
                </a:solidFill>
                <a:latin typeface="Arial"/>
              </a:rPr>
              <a:t>Client gửi metadata lên Backend API (tên tệp, MIME, dung lượng).</a:t>
            </a:r>
          </a:p>
          <a:p>
            <a:pPr>
              <a:spcBef>
                <a:spcPts val="600"/>
              </a:spcBef>
            </a:pPr>
            <a:r>
              <a:rPr sz="950" b="1">
                <a:solidFill>
                  <a:srgbClr val="0284C7"/>
                </a:solidFill>
                <a:latin typeface="Arial"/>
              </a:rPr>
              <a:t>⚡ 2. Cấp quyền tạm thời: </a:t>
            </a:r>
            <a:r>
              <a:rPr sz="900">
                <a:solidFill>
                  <a:srgbClr val="1E293B"/>
                </a:solidFill>
                <a:latin typeface="Arial"/>
              </a:rPr>
              <a:t>Backend xác thực RBAC và sinh Pre-signed URL có chữ ký mã hóa (hạn 15 phút).</a:t>
            </a:r>
          </a:p>
          <a:p>
            <a:pPr>
              <a:spcBef>
                <a:spcPts val="600"/>
              </a:spcBef>
            </a:pPr>
            <a:r>
              <a:rPr sz="950" b="1">
                <a:solidFill>
                  <a:srgbClr val="0284C7"/>
                </a:solidFill>
                <a:latin typeface="Arial"/>
              </a:rPr>
              <a:t>⚡ 3. Tải trực tiếp lên Cloud: </a:t>
            </a:r>
            <a:r>
              <a:rPr sz="900">
                <a:solidFill>
                  <a:srgbClr val="1E293B"/>
                </a:solidFill>
                <a:latin typeface="Arial"/>
              </a:rPr>
              <a:t>Client đẩy tệp trực tiếp lên S3/Storage, bypass hoàn toàn Backend.</a:t>
            </a:r>
          </a:p>
          <a:p>
            <a:pPr>
              <a:spcBef>
                <a:spcPts val="600"/>
              </a:spcBef>
            </a:pPr>
            <a:r>
              <a:rPr sz="950" b="1">
                <a:solidFill>
                  <a:srgbClr val="0284C7"/>
                </a:solidFill>
                <a:latin typeface="Arial"/>
              </a:rPr>
              <a:t>⚡ 4. Xử lý không đồng bộ: </a:t>
            </a:r>
            <a:r>
              <a:rPr sz="900">
                <a:solidFill>
                  <a:srgbClr val="1E293B"/>
                </a:solidFill>
                <a:latin typeface="Arial"/>
              </a:rPr>
              <a:t>S3 Event kích hoạt Lambda/Cloud Function sinh Thumbnail, OCR văn bản.</a:t>
            </a:r>
          </a:p>
          <a:p>
            <a:pPr>
              <a:spcBef>
                <a:spcPts val="600"/>
              </a:spcBef>
            </a:pPr>
            <a:r>
              <a:rPr sz="950" b="1">
                <a:solidFill>
                  <a:srgbClr val="0284C7"/>
                </a:solidFill>
                <a:latin typeface="Arial"/>
              </a:rPr>
              <a:t>⚡ 5. Phân phối toàn cầu: </a:t>
            </a:r>
            <a:r>
              <a:rPr sz="900">
                <a:solidFill>
                  <a:srgbClr val="1E293B"/>
                </a:solidFill>
                <a:latin typeface="Arial"/>
              </a:rPr>
              <a:t>Người dùng đọc tài liệu với tốc độ cao qua CDN Edge Caching.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5. ĐÁNH GIÁ 3 TRỤ CỘT: BẢO MẬT, CHI PHÍ VÀ HIỆU SUẤT</a:t>
            </a:r>
          </a:p>
        </p:txBody>
      </p:sp>
      <p:sp>
        <p:nvSpPr>
          <p:cNvPr id="4" name="Rounded Rectangle 3"/>
          <p:cNvSpPr/>
          <p:nvPr/>
        </p:nvSpPr>
        <p:spPr>
          <a:xfrm>
            <a:off x="731520" y="146304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3200400" cy="4572000"/>
          </a:xfrm>
          <a:prstGeom prst="rect">
            <a:avLst/>
          </a:prstGeom>
          <a:noFill/>
        </p:spPr>
        <p:txBody>
          <a:bodyPr wrap="square">
            <a:spAutoFit/>
          </a:bodyPr>
          <a:lstStyle/>
          <a:p>
            <a:r>
              <a:rPr sz="1150" b="1">
                <a:solidFill>
                  <a:srgbClr val="1E3A8A"/>
                </a:solidFill>
                <a:latin typeface="Arial"/>
              </a:rPr>
              <a:t>🛡️ AN TOÀN BẢO MẬT</a:t>
            </a:r>
          </a:p>
          <a:p>
            <a:pPr>
              <a:spcAft>
                <a:spcPts val="800"/>
              </a:spcAft>
            </a:pPr>
            <a:r>
              <a:rPr sz="950" b="1">
                <a:solidFill>
                  <a:srgbClr val="0284C7"/>
                </a:solidFill>
                <a:latin typeface="Arial"/>
              </a:rPr>
              <a:t>Chuẩn Quốc Tế &amp; Chống Ransomware</a:t>
            </a:r>
          </a:p>
          <a:p>
            <a:r>
              <a:rPr sz="950">
                <a:solidFill>
                  <a:srgbClr val="1E293B"/>
                </a:solidFill>
                <a:latin typeface="Arial"/>
              </a:rPr>
              <a:t>• Mã hóa kép At-Rest (AES-256) &amp; In-Transit (TLS 1.3).
• Liên kết chia sẻ tạm thời Pre-signed URL (TTL ngắn).
• Object Lock (WORM) bảo vệ chống xóa/ghi đè mã độc.
• Phân quyền chi tiết tới từng tệp/thư mục (IAM &amp; Security Rules).
• Giám sát toàn bộ vết truy cập tệp 24/7.</a:t>
            </a:r>
          </a:p>
        </p:txBody>
      </p:sp>
      <p:sp>
        <p:nvSpPr>
          <p:cNvPr id="6" name="Rounded Rectangle 5"/>
          <p:cNvSpPr/>
          <p:nvPr/>
        </p:nvSpPr>
        <p:spPr>
          <a:xfrm>
            <a:off x="4343400" y="146304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600200"/>
            <a:ext cx="3200400" cy="4572000"/>
          </a:xfrm>
          <a:prstGeom prst="rect">
            <a:avLst/>
          </a:prstGeom>
          <a:noFill/>
        </p:spPr>
        <p:txBody>
          <a:bodyPr wrap="square">
            <a:spAutoFit/>
          </a:bodyPr>
          <a:lstStyle/>
          <a:p>
            <a:r>
              <a:rPr sz="1150" b="1">
                <a:solidFill>
                  <a:srgbClr val="1E3A8A"/>
                </a:solidFill>
                <a:latin typeface="Arial"/>
              </a:rPr>
              <a:t>💰 TỐI ƯU CHI PHÍ (TCO)</a:t>
            </a:r>
          </a:p>
          <a:p>
            <a:pPr>
              <a:spcAft>
                <a:spcPts val="800"/>
              </a:spcAft>
            </a:pPr>
            <a:r>
              <a:rPr sz="950" b="1">
                <a:solidFill>
                  <a:srgbClr val="0284C7"/>
                </a:solidFill>
                <a:latin typeface="Arial"/>
              </a:rPr>
              <a:t>Chuyển Đổi CapEx sang OpEx</a:t>
            </a:r>
          </a:p>
          <a:p>
            <a:r>
              <a:rPr sz="950">
                <a:solidFill>
                  <a:srgbClr val="1E293B"/>
                </a:solidFill>
                <a:latin typeface="Arial"/>
              </a:rPr>
              <a:t>• Đầu tư ban đầu (CapEx) bằng 0: Không cần mua máy chủ.
• Mô hình Pay-As-You-Go: Chỉ trả tiền theo dung lượng dùng thật.
• Vòng đời tự động (Lifecycle Rules): Tự động chuyển tài liệu cũ sang Glacier Deep Archive, tiết kiệm 70-90% chi phí lưu trữ.
• Tiết kiệm 40% TCO tổng thể trong 3 năm.</a:t>
            </a:r>
          </a:p>
        </p:txBody>
      </p:sp>
      <p:sp>
        <p:nvSpPr>
          <p:cNvPr id="8" name="Rounded Rectangle 7"/>
          <p:cNvSpPr/>
          <p:nvPr/>
        </p:nvSpPr>
        <p:spPr>
          <a:xfrm>
            <a:off x="7955280" y="146304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600200"/>
            <a:ext cx="3200400" cy="4572000"/>
          </a:xfrm>
          <a:prstGeom prst="rect">
            <a:avLst/>
          </a:prstGeom>
          <a:noFill/>
        </p:spPr>
        <p:txBody>
          <a:bodyPr wrap="square">
            <a:spAutoFit/>
          </a:bodyPr>
          <a:lstStyle/>
          <a:p>
            <a:r>
              <a:rPr sz="1150" b="1">
                <a:solidFill>
                  <a:srgbClr val="1E3A8A"/>
                </a:solidFill>
                <a:latin typeface="Arial"/>
              </a:rPr>
              <a:t>🚀 HIỆU SUẤT VƯỢT TRỘI</a:t>
            </a:r>
          </a:p>
          <a:p>
            <a:pPr>
              <a:spcAft>
                <a:spcPts val="800"/>
              </a:spcAft>
            </a:pPr>
            <a:r>
              <a:rPr sz="950" b="1">
                <a:solidFill>
                  <a:srgbClr val="0284C7"/>
                </a:solidFill>
                <a:latin typeface="Arial"/>
              </a:rPr>
              <a:t>Bền Bỉ 11 Số 9 &amp; CDN Toàn Cầu</a:t>
            </a:r>
          </a:p>
          <a:p>
            <a:r>
              <a:rPr sz="950">
                <a:solidFill>
                  <a:srgbClr val="1E293B"/>
                </a:solidFill>
                <a:latin typeface="Arial"/>
              </a:rPr>
              <a:t>• Độ bền dữ liệu 99.999999999% phân tán đa trung tâm dữ liệu.
• Tự động co giãn (Auto-scaling) đáp ứng hàng vạn sinh viên thi cử.
• CDN Edge Caching giảm 75% độ trễ tải tài liệu từ xa.
• Backend giải phóng 90% tải CPU và băng thông mạng nhờ cơ chế Direct Upload.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6. GIẢI PHÁP TÍCH HỢP FIREBASE (GOOGLE AUTH &amp; STORAGE)</a:t>
            </a:r>
          </a:p>
        </p:txBody>
      </p:sp>
      <p:sp>
        <p:nvSpPr>
          <p:cNvPr id="4" name="Rounded Rectangle 3"/>
          <p:cNvSpPr/>
          <p:nvPr/>
        </p:nvSpPr>
        <p:spPr>
          <a:xfrm>
            <a:off x="731520" y="1463040"/>
            <a:ext cx="52578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92040" cy="4572000"/>
          </a:xfrm>
          <a:prstGeom prst="rect">
            <a:avLst/>
          </a:prstGeom>
          <a:noFill/>
        </p:spPr>
        <p:txBody>
          <a:bodyPr wrap="square">
            <a:spAutoFit/>
          </a:bodyPr>
          <a:lstStyle/>
          <a:p>
            <a:r>
              <a:rPr sz="1200" b="1">
                <a:solidFill>
                  <a:srgbClr val="1E3A8A"/>
                </a:solidFill>
                <a:latin typeface="Arial"/>
              </a:rPr>
              <a:t>🔑 FIREBASE AUTHENTICATION (GOOGLE SIGN-IN)</a:t>
            </a:r>
          </a:p>
          <a:p>
            <a:pPr>
              <a:spcBef>
                <a:spcPts val="600"/>
              </a:spcBef>
            </a:pPr>
            <a:r>
              <a:rPr sz="950" b="1">
                <a:solidFill>
                  <a:srgbClr val="F59E0B"/>
                </a:solidFill>
                <a:latin typeface="Arial"/>
              </a:rPr>
              <a:t>🔸 Xác thực một chạm (OAuth 2.0): </a:t>
            </a:r>
            <a:r>
              <a:rPr sz="900">
                <a:solidFill>
                  <a:srgbClr val="1E293B"/>
                </a:solidFill>
                <a:latin typeface="Arial"/>
              </a:rPr>
              <a:t>Sinh viên đăng nhập an toàn bằng tài khoản Google trường (@e.tlu.edu.vn / @gmail.com) mà không cần ghi nhớ thêm mật khẩu.</a:t>
            </a:r>
          </a:p>
          <a:p>
            <a:pPr>
              <a:spcBef>
                <a:spcPts val="600"/>
              </a:spcBef>
            </a:pPr>
            <a:r>
              <a:rPr sz="950" b="1">
                <a:solidFill>
                  <a:srgbClr val="F59E0B"/>
                </a:solidFill>
                <a:latin typeface="Arial"/>
              </a:rPr>
              <a:t>🔸 Thư viện Flutter chuẩn: </a:t>
            </a:r>
            <a:r>
              <a:rPr sz="900">
                <a:solidFill>
                  <a:srgbClr val="1E293B"/>
                </a:solidFill>
                <a:latin typeface="Arial"/>
              </a:rPr>
              <a:t>firebase_auth kết hợp google_sign_in cung cấp trải nghiệm mượt mà trên cả Android, iOS và Web.</a:t>
            </a:r>
          </a:p>
          <a:p>
            <a:pPr>
              <a:spcBef>
                <a:spcPts val="600"/>
              </a:spcBef>
            </a:pPr>
            <a:r>
              <a:rPr sz="950" b="1">
                <a:solidFill>
                  <a:srgbClr val="F59E0B"/>
                </a:solidFill>
                <a:latin typeface="Arial"/>
              </a:rPr>
              <a:t>🔸 Bảo mật cao cấp: </a:t>
            </a:r>
            <a:r>
              <a:rPr sz="900">
                <a:solidFill>
                  <a:srgbClr val="1E293B"/>
                </a:solidFill>
                <a:latin typeface="Arial"/>
              </a:rPr>
              <a:t>Tự động quản lý ID Token, Refresh Token, cơ chế đa yếu tố (MFA) được Google bảo đảm an toàn.</a:t>
            </a:r>
          </a:p>
          <a:p>
            <a:pPr>
              <a:spcBef>
                <a:spcPts val="600"/>
              </a:spcBef>
            </a:pPr>
            <a:r>
              <a:rPr sz="950" b="1">
                <a:solidFill>
                  <a:srgbClr val="F59E0B"/>
                </a:solidFill>
                <a:latin typeface="Arial"/>
              </a:rPr>
              <a:t>🔸 Tích hợp phân quyền: </a:t>
            </a:r>
            <a:r>
              <a:rPr sz="900">
                <a:solidFill>
                  <a:srgbClr val="1E293B"/>
                </a:solidFill>
                <a:latin typeface="Arial"/>
              </a:rPr>
              <a:t>Token JWT của Firebase chứa User ID (request.auth.uid) được dùng trực tiếp để phân quyền truy cập trong Security Rules của Storage.</a:t>
            </a:r>
          </a:p>
        </p:txBody>
      </p:sp>
      <p:sp>
        <p:nvSpPr>
          <p:cNvPr id="6" name="Rounded Rectangle 5"/>
          <p:cNvSpPr/>
          <p:nvPr/>
        </p:nvSpPr>
        <p:spPr>
          <a:xfrm>
            <a:off x="6217920" y="1463040"/>
            <a:ext cx="5242255"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92040" cy="4572000"/>
          </a:xfrm>
          <a:prstGeom prst="rect">
            <a:avLst/>
          </a:prstGeom>
          <a:noFill/>
        </p:spPr>
        <p:txBody>
          <a:bodyPr wrap="square">
            <a:spAutoFit/>
          </a:bodyPr>
          <a:lstStyle/>
          <a:p>
            <a:r>
              <a:rPr sz="1200" b="1">
                <a:solidFill>
                  <a:srgbClr val="1E3A8A"/>
                </a:solidFill>
                <a:latin typeface="Arial"/>
              </a:rPr>
              <a:t>📦 CLOUD STORAGE FOR FIREBASE</a:t>
            </a:r>
          </a:p>
          <a:p>
            <a:pPr>
              <a:spcBef>
                <a:spcPts val="600"/>
              </a:spcBef>
            </a:pPr>
            <a:r>
              <a:rPr sz="950" b="1">
                <a:solidFill>
                  <a:srgbClr val="0284C7"/>
                </a:solidFill>
                <a:latin typeface="Arial"/>
              </a:rPr>
              <a:t>🔹 Lưu trữ tệp nhị phân tin cậy: </a:t>
            </a:r>
            <a:r>
              <a:rPr sz="900">
                <a:solidFill>
                  <a:srgbClr val="1E293B"/>
                </a:solidFill>
                <a:latin typeface="Arial"/>
              </a:rPr>
              <a:t>Xây dựng trên nền tảng Google Cloud Storage, khả năng co giãn vô hạn, lưu trữ an toàn các tệp PDF, DOCX, Slide bài giảng.</a:t>
            </a:r>
          </a:p>
          <a:p>
            <a:pPr>
              <a:spcBef>
                <a:spcPts val="600"/>
              </a:spcBef>
            </a:pPr>
            <a:r>
              <a:rPr sz="950" b="1">
                <a:solidFill>
                  <a:srgbClr val="0284C7"/>
                </a:solidFill>
                <a:latin typeface="Arial"/>
              </a:rPr>
              <a:t>🔹 Khả năng tiếp tục tải (Resumable): </a:t>
            </a:r>
            <a:r>
              <a:rPr sz="900">
                <a:solidFill>
                  <a:srgbClr val="1E293B"/>
                </a:solidFill>
                <a:latin typeface="Arial"/>
              </a:rPr>
              <a:t>Tự động tạm dừng và tải tiếp khi mạng chập chờn trên thiết bị di động, tối ưu hóa trải nghiệm sinh viên.</a:t>
            </a:r>
          </a:p>
          <a:p>
            <a:pPr>
              <a:spcBef>
                <a:spcPts val="600"/>
              </a:spcBef>
            </a:pPr>
            <a:r>
              <a:rPr sz="950" b="1">
                <a:solidFill>
                  <a:srgbClr val="0284C7"/>
                </a:solidFill>
                <a:latin typeface="Arial"/>
              </a:rPr>
              <a:t>🔹 Security Rules linh hoạt: </a:t>
            </a:r>
            <a:r>
              <a:rPr sz="900">
                <a:solidFill>
                  <a:srgbClr val="1E293B"/>
                </a:solidFill>
                <a:latin typeface="Arial"/>
              </a:rPr>
              <a:t>Kiểm soát truy cập dựa trên User ID và vai trò:
allow read: if request.auth != null;
allow write: if request.auth.uid == userId;</a:t>
            </a:r>
          </a:p>
          <a:p>
            <a:pPr>
              <a:spcBef>
                <a:spcPts val="600"/>
              </a:spcBef>
            </a:pPr>
            <a:r>
              <a:rPr sz="950" b="1">
                <a:solidFill>
                  <a:srgbClr val="0284C7"/>
                </a:solidFill>
                <a:latin typeface="Arial"/>
              </a:rPr>
              <a:t>🔹 Tải xuống trực tiếp: </a:t>
            </a:r>
            <a:r>
              <a:rPr sz="900">
                <a:solidFill>
                  <a:srgbClr val="1E293B"/>
                </a:solidFill>
                <a:latin typeface="Arial"/>
              </a:rPr>
              <a:t>Sinh Download URL công khai hoặc liên kết có chữ ký truy cập qua CDN của Google với độ trễ thấp.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7. QUY TRÌNH THIẾT LẬP FIREBASE VỚI TÀI KHOẢN NHÓM</a:t>
            </a:r>
          </a:p>
        </p:txBody>
      </p:sp>
      <p:sp>
        <p:nvSpPr>
          <p:cNvPr id="4" name="Rounded Rectangle 3"/>
          <p:cNvSpPr/>
          <p:nvPr/>
        </p:nvSpPr>
        <p:spPr>
          <a:xfrm>
            <a:off x="731520" y="1463040"/>
            <a:ext cx="20574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874520" cy="4617720"/>
          </a:xfrm>
          <a:prstGeom prst="rect">
            <a:avLst/>
          </a:prstGeom>
          <a:noFill/>
        </p:spPr>
        <p:txBody>
          <a:bodyPr wrap="square">
            <a:spAutoFit/>
          </a:bodyPr>
          <a:lstStyle/>
          <a:p>
            <a:r>
              <a:rPr sz="1000" b="1">
                <a:solidFill>
                  <a:srgbClr val="1E3A8A"/>
                </a:solidFill>
                <a:latin typeface="Arial"/>
              </a:rPr>
              <a:t>BƯỚC 1: KHỞI TẠO DỰ ÁN</a:t>
            </a:r>
          </a:p>
          <a:p>
            <a:pPr>
              <a:spcAft>
                <a:spcPts val="600"/>
              </a:spcAft>
            </a:pPr>
            <a:r>
              <a:rPr sz="900" b="1">
                <a:solidFill>
                  <a:srgbClr val="0284C7"/>
                </a:solidFill>
                <a:latin typeface="Arial"/>
              </a:rPr>
              <a:t>Tạo Project Console</a:t>
            </a:r>
          </a:p>
          <a:p>
            <a:r>
              <a:rPr sz="850">
                <a:solidFill>
                  <a:srgbClr val="1E293B"/>
                </a:solidFill>
                <a:latin typeface="Arial"/>
              </a:rPr>
              <a:t>• Truy cập console.firebase.google.com bằng tài khoản nhóm.
• Tạo dự án mới cashew-study-docs.
• Bật Google Analytics (tùy chọn).</a:t>
            </a:r>
          </a:p>
        </p:txBody>
      </p:sp>
      <p:sp>
        <p:nvSpPr>
          <p:cNvPr id="6" name="Rounded Rectangle 5"/>
          <p:cNvSpPr/>
          <p:nvPr/>
        </p:nvSpPr>
        <p:spPr>
          <a:xfrm>
            <a:off x="2898648" y="1463040"/>
            <a:ext cx="20574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90088" y="1572768"/>
            <a:ext cx="1874520" cy="4617720"/>
          </a:xfrm>
          <a:prstGeom prst="rect">
            <a:avLst/>
          </a:prstGeom>
          <a:noFill/>
        </p:spPr>
        <p:txBody>
          <a:bodyPr wrap="square">
            <a:spAutoFit/>
          </a:bodyPr>
          <a:lstStyle/>
          <a:p>
            <a:r>
              <a:rPr sz="1000" b="1">
                <a:solidFill>
                  <a:srgbClr val="1E3A8A"/>
                </a:solidFill>
                <a:latin typeface="Arial"/>
              </a:rPr>
              <a:t>BƯỚC 2: CÀI ĐẶT CLI</a:t>
            </a:r>
          </a:p>
          <a:p>
            <a:pPr>
              <a:spcAft>
                <a:spcPts val="600"/>
              </a:spcAft>
            </a:pPr>
            <a:r>
              <a:rPr sz="900" b="1">
                <a:solidFill>
                  <a:srgbClr val="0284C7"/>
                </a:solidFill>
                <a:latin typeface="Arial"/>
              </a:rPr>
              <a:t>Firebase CLI &amp; FlutterFire</a:t>
            </a:r>
          </a:p>
          <a:p>
            <a:r>
              <a:rPr sz="850">
                <a:solidFill>
                  <a:srgbClr val="1E293B"/>
                </a:solidFill>
                <a:latin typeface="Arial"/>
              </a:rPr>
              <a:t>• Cài đặt Firebase Tools: npm install -g firebase-tools.
• Đăng nhập: firebase login.
• Kích hoạt: dart pub global activate flutterfire_cli.</a:t>
            </a:r>
          </a:p>
        </p:txBody>
      </p:sp>
      <p:sp>
        <p:nvSpPr>
          <p:cNvPr id="8" name="Rounded Rectangle 7"/>
          <p:cNvSpPr/>
          <p:nvPr/>
        </p:nvSpPr>
        <p:spPr>
          <a:xfrm>
            <a:off x="5065776" y="1463040"/>
            <a:ext cx="20574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57216" y="1572768"/>
            <a:ext cx="1874520" cy="4617720"/>
          </a:xfrm>
          <a:prstGeom prst="rect">
            <a:avLst/>
          </a:prstGeom>
          <a:noFill/>
        </p:spPr>
        <p:txBody>
          <a:bodyPr wrap="square">
            <a:spAutoFit/>
          </a:bodyPr>
          <a:lstStyle/>
          <a:p>
            <a:r>
              <a:rPr sz="1000" b="1">
                <a:solidFill>
                  <a:srgbClr val="1E3A8A"/>
                </a:solidFill>
                <a:latin typeface="Arial"/>
              </a:rPr>
              <a:t>BƯỚC 3: CẤU HÌNH TỰ ĐỘNG</a:t>
            </a:r>
          </a:p>
          <a:p>
            <a:pPr>
              <a:spcAft>
                <a:spcPts val="600"/>
              </a:spcAft>
            </a:pPr>
            <a:r>
              <a:rPr sz="900" b="1">
                <a:solidFill>
                  <a:srgbClr val="0284C7"/>
                </a:solidFill>
                <a:latin typeface="Arial"/>
              </a:rPr>
              <a:t>Sinh tệp firebase_options</a:t>
            </a:r>
          </a:p>
          <a:p>
            <a:r>
              <a:rPr sz="850">
                <a:solidFill>
                  <a:srgbClr val="1E293B"/>
                </a:solidFill>
                <a:latin typeface="Arial"/>
              </a:rPr>
              <a:t>• Tại thư mục app, chạy lệnh: flutterfire configure.
• Tự động đăng ký app Android, iOS, Web và sinh mã lib/firebase_options.dart.</a:t>
            </a:r>
          </a:p>
        </p:txBody>
      </p:sp>
      <p:sp>
        <p:nvSpPr>
          <p:cNvPr id="10" name="Rounded Rectangle 9"/>
          <p:cNvSpPr/>
          <p:nvPr/>
        </p:nvSpPr>
        <p:spPr>
          <a:xfrm>
            <a:off x="7232904" y="1463040"/>
            <a:ext cx="20574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24344" y="1572768"/>
            <a:ext cx="1874520" cy="4617720"/>
          </a:xfrm>
          <a:prstGeom prst="rect">
            <a:avLst/>
          </a:prstGeom>
          <a:noFill/>
        </p:spPr>
        <p:txBody>
          <a:bodyPr wrap="square">
            <a:spAutoFit/>
          </a:bodyPr>
          <a:lstStyle/>
          <a:p>
            <a:r>
              <a:rPr sz="1000" b="1">
                <a:solidFill>
                  <a:srgbClr val="1E3A8A"/>
                </a:solidFill>
                <a:latin typeface="Arial"/>
              </a:rPr>
              <a:t>BƯỚC 4: THÊM DEPENDENCIES</a:t>
            </a:r>
          </a:p>
          <a:p>
            <a:pPr>
              <a:spcAft>
                <a:spcPts val="600"/>
              </a:spcAft>
            </a:pPr>
            <a:r>
              <a:rPr sz="900" b="1">
                <a:solidFill>
                  <a:srgbClr val="0284C7"/>
                </a:solidFill>
                <a:latin typeface="Arial"/>
              </a:rPr>
              <a:t>Cài đặt gói trong pubspec</a:t>
            </a:r>
          </a:p>
          <a:p>
            <a:r>
              <a:rPr sz="850">
                <a:solidFill>
                  <a:srgbClr val="1E293B"/>
                </a:solidFill>
                <a:latin typeface="Arial"/>
              </a:rPr>
              <a:t>• Thêm vào pubspec.yaml:
firebase_core: ^3.6.0
firebase_auth: ^5.3.1
google_sign_in: ^6.2.1
firebase_storage: ^12.3.2</a:t>
            </a:r>
          </a:p>
        </p:txBody>
      </p:sp>
      <p:sp>
        <p:nvSpPr>
          <p:cNvPr id="12" name="Rounded Rectangle 11"/>
          <p:cNvSpPr/>
          <p:nvPr/>
        </p:nvSpPr>
        <p:spPr>
          <a:xfrm>
            <a:off x="9400032" y="1463040"/>
            <a:ext cx="205740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91472" y="1572768"/>
            <a:ext cx="1874520" cy="4617720"/>
          </a:xfrm>
          <a:prstGeom prst="rect">
            <a:avLst/>
          </a:prstGeom>
          <a:noFill/>
        </p:spPr>
        <p:txBody>
          <a:bodyPr wrap="square">
            <a:spAutoFit/>
          </a:bodyPr>
          <a:lstStyle/>
          <a:p>
            <a:r>
              <a:rPr sz="1000" b="1">
                <a:solidFill>
                  <a:srgbClr val="1E3A8A"/>
                </a:solidFill>
                <a:latin typeface="Arial"/>
              </a:rPr>
              <a:t>BƯỚC 5: KHỞI TẠO CODE</a:t>
            </a:r>
          </a:p>
          <a:p>
            <a:pPr>
              <a:spcAft>
                <a:spcPts val="600"/>
              </a:spcAft>
            </a:pPr>
            <a:r>
              <a:rPr sz="900" b="1">
                <a:solidFill>
                  <a:srgbClr val="0284C7"/>
                </a:solidFill>
                <a:latin typeface="Arial"/>
              </a:rPr>
              <a:t>Khởi chạy trong main.dart</a:t>
            </a:r>
          </a:p>
          <a:p>
            <a:r>
              <a:rPr sz="850">
                <a:solidFill>
                  <a:srgbClr val="1E293B"/>
                </a:solidFill>
                <a:latin typeface="Arial"/>
              </a:rPr>
              <a:t>• Bổ sung vào hàm main():
WidgetsFlutterBinding.ensureInitialized();
await Firebase.initializeApp(
  options: DefaultFirebaseOptions.currentPlatform);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8. BẢNG PHÂN CHIA CÔNG VIỆC BÀI TẬP TIẾP THEO (NHÓM 16)</a:t>
            </a:r>
          </a:p>
        </p:txBody>
      </p:sp>
      <p:sp>
        <p:nvSpPr>
          <p:cNvPr id="4" name="Rounded Rectangle 3"/>
          <p:cNvSpPr/>
          <p:nvPr/>
        </p:nvSpPr>
        <p:spPr>
          <a:xfrm>
            <a:off x="731520" y="1463040"/>
            <a:ext cx="52578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4983480" cy="2103120"/>
          </a:xfrm>
          <a:prstGeom prst="rect">
            <a:avLst/>
          </a:prstGeom>
          <a:noFill/>
        </p:spPr>
        <p:txBody>
          <a:bodyPr wrap="square">
            <a:spAutoFit/>
          </a:bodyPr>
          <a:lstStyle/>
          <a:p>
            <a:r>
              <a:rPr sz="1100" b="1">
                <a:solidFill>
                  <a:srgbClr val="1E3A8A"/>
                </a:solidFill>
                <a:latin typeface="Arial"/>
              </a:rPr>
              <a:t>👤 1. NGUYỄN VĂN HUỲNH (NHÓM TRƯỞNG)</a:t>
            </a:r>
          </a:p>
          <a:p>
            <a:pPr>
              <a:spcAft>
                <a:spcPts val="400"/>
              </a:spcAft>
            </a:pPr>
            <a:r>
              <a:rPr sz="950" b="1">
                <a:solidFill>
                  <a:srgbClr val="0284C7"/>
                </a:solidFill>
                <a:latin typeface="Arial"/>
              </a:rPr>
              <a:t>🎯 Vai trò: Quản trị Cloud, Security &amp; Tích hợp Kho lưu trữ</a:t>
            </a:r>
          </a:p>
          <a:p>
            <a:r>
              <a:rPr sz="850">
                <a:solidFill>
                  <a:srgbClr val="1E293B"/>
                </a:solidFill>
                <a:latin typeface="Arial"/>
              </a:rPr>
              <a:t>• Khởi tạo Firebase Project &amp; cấu hình OAuth Client ID, SHA-1 fingerprint.
• Thiết lập dịch vụ Firebase Storage và viết Security Rules kiểm soát quyền truy cập.
• Triển khai lớp Storage Service trong Flutter (Tải lên/tải xuống tệp bài giảng, đề thi).
• Quản lý Git Flow, review pull request và hợp nhất vào nhánh main.
• Nhánh phụ trách: huynh-cloud-storage</a:t>
            </a:r>
          </a:p>
        </p:txBody>
      </p:sp>
      <p:sp>
        <p:nvSpPr>
          <p:cNvPr id="6" name="Rounded Rectangle 5"/>
          <p:cNvSpPr/>
          <p:nvPr/>
        </p:nvSpPr>
        <p:spPr>
          <a:xfrm>
            <a:off x="6172200" y="1463040"/>
            <a:ext cx="52578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54480"/>
            <a:ext cx="4983480" cy="2103120"/>
          </a:xfrm>
          <a:prstGeom prst="rect">
            <a:avLst/>
          </a:prstGeom>
          <a:noFill/>
        </p:spPr>
        <p:txBody>
          <a:bodyPr wrap="square">
            <a:spAutoFit/>
          </a:bodyPr>
          <a:lstStyle/>
          <a:p>
            <a:r>
              <a:rPr sz="1100" b="1">
                <a:solidFill>
                  <a:srgbClr val="1E3A8A"/>
                </a:solidFill>
                <a:latin typeface="Arial"/>
              </a:rPr>
              <a:t>👤 2. LÊ ANH TUẤN (THÀNH VIÊN)</a:t>
            </a:r>
          </a:p>
          <a:p>
            <a:pPr>
              <a:spcAft>
                <a:spcPts val="400"/>
              </a:spcAft>
            </a:pPr>
            <a:r>
              <a:rPr sz="950" b="1">
                <a:solidFill>
                  <a:srgbClr val="0284C7"/>
                </a:solidFill>
                <a:latin typeface="Arial"/>
              </a:rPr>
              <a:t>🎯 Vai trò: Xác thực Người dùng Google Sign-In &amp; Auth State</a:t>
            </a:r>
          </a:p>
          <a:p>
            <a:r>
              <a:rPr sz="850">
                <a:solidFill>
                  <a:srgbClr val="1E293B"/>
                </a:solidFill>
                <a:latin typeface="Arial"/>
              </a:rPr>
              <a:t>• Cài đặt và cấu hình thư viện firebase_auth &amp; google_sign_in.
• Triển khai luồng đăng nhập một chạm bằng tài khoản Google trường cho sinh viên.
• Xây dựng màn hình đăng nhập (Login View), quản lý phiên làm việc AuthStateProvider.
• Viết kịch bản kiểm thử luồng đăng nhập/đăng xuất và ghi nhận log kiểm thử.
• Nhánh phụ trách: letuan-google-auth</a:t>
            </a:r>
          </a:p>
        </p:txBody>
      </p:sp>
      <p:sp>
        <p:nvSpPr>
          <p:cNvPr id="8" name="Rounded Rectangle 7"/>
          <p:cNvSpPr/>
          <p:nvPr/>
        </p:nvSpPr>
        <p:spPr>
          <a:xfrm>
            <a:off x="731520" y="3886200"/>
            <a:ext cx="52578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77640"/>
            <a:ext cx="4983480" cy="2103120"/>
          </a:xfrm>
          <a:prstGeom prst="rect">
            <a:avLst/>
          </a:prstGeom>
          <a:noFill/>
        </p:spPr>
        <p:txBody>
          <a:bodyPr wrap="square">
            <a:spAutoFit/>
          </a:bodyPr>
          <a:lstStyle/>
          <a:p>
            <a:r>
              <a:rPr sz="1100" b="1">
                <a:solidFill>
                  <a:srgbClr val="1E3A8A"/>
                </a:solidFill>
                <a:latin typeface="Arial"/>
              </a:rPr>
              <a:t>👤 3. NGUYỄN TRUNG KIÊN (THÀNH VIÊN)</a:t>
            </a:r>
          </a:p>
          <a:p>
            <a:pPr>
              <a:spcAft>
                <a:spcPts val="400"/>
              </a:spcAft>
            </a:pPr>
            <a:r>
              <a:rPr sz="950" b="1">
                <a:solidFill>
                  <a:srgbClr val="0284C7"/>
                </a:solidFill>
                <a:latin typeface="Arial"/>
              </a:rPr>
              <a:t>🎯 Vai trò: Thiết kế Giao diện UI/UX &amp; Đồng bộ Trạng thái Tải tệp</a:t>
            </a:r>
          </a:p>
          <a:p>
            <a:r>
              <a:rPr sz="850">
                <a:solidFill>
                  <a:srgbClr val="1E293B"/>
                </a:solidFill>
                <a:latin typeface="Arial"/>
              </a:rPr>
              <a:t>• Thiết kế giao diện hiển thị người dùng (Avatar, thông tin tài khoản Google đăng nhập).
• Thiết kế thanh tiến trình tải lên/tải xuống tệp (Upload/Download Progress Bar).
• Tùy biến thông báo trạng thái đồng bộ Cloud (Cloud Sync Badge, Offline indicator).
• Tối ưu giao diện xem trước tài liệu và chụp ảnh minh chứng kiểm thử.
• Nhánh phụ trách: kien-cloud-ui</a:t>
            </a:r>
          </a:p>
        </p:txBody>
      </p:sp>
      <p:sp>
        <p:nvSpPr>
          <p:cNvPr id="10" name="Rounded Rectangle 9"/>
          <p:cNvSpPr/>
          <p:nvPr/>
        </p:nvSpPr>
        <p:spPr>
          <a:xfrm>
            <a:off x="6172200" y="3886200"/>
            <a:ext cx="52578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983480" cy="2103120"/>
          </a:xfrm>
          <a:prstGeom prst="rect">
            <a:avLst/>
          </a:prstGeom>
          <a:noFill/>
        </p:spPr>
        <p:txBody>
          <a:bodyPr wrap="square">
            <a:spAutoFit/>
          </a:bodyPr>
          <a:lstStyle/>
          <a:p>
            <a:r>
              <a:rPr sz="1100" b="1">
                <a:solidFill>
                  <a:srgbClr val="1E3A8A"/>
                </a:solidFill>
                <a:latin typeface="Arial"/>
              </a:rPr>
              <a:t>👤 4. TRẦN ANH TUẤN (THÀNH VIÊN)</a:t>
            </a:r>
          </a:p>
          <a:p>
            <a:pPr>
              <a:spcAft>
                <a:spcPts val="400"/>
              </a:spcAft>
            </a:pPr>
            <a:r>
              <a:rPr sz="950" b="1">
                <a:solidFill>
                  <a:srgbClr val="0284C7"/>
                </a:solidFill>
                <a:latin typeface="Arial"/>
              </a:rPr>
              <a:t>🎯 Vai trò: Xử lý Dữ liệu Ngoại tuyến, Đồng bộ Cache &amp; Kiểm toán</a:t>
            </a:r>
          </a:p>
          <a:p>
            <a:r>
              <a:rPr sz="850">
                <a:solidFill>
                  <a:srgbClr val="1E293B"/>
                </a:solidFill>
                <a:latin typeface="Arial"/>
              </a:rPr>
              <a:t>• Xây dựng cơ chế Local Cache kết hợp Cloud: Đọc dữ liệu từ SQLite khi offline.
• Xử lý đồng bộ dữ liệu hai chiều (Cloud Firestore / Metadata Sync) khi có mạng trở lại.
• Kiểm tra tính toàn vẹn tệp (Checksum MD5/SHA-256) và cập nhật bảng delete_logs.
• Kiểm thử tải đồng thời nhiều tệp và đánh giá hiệu năng ứng dụng.
• Nhánh phụ trách: trantuan-offline-sync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r>
              <a:rPr sz="1000" b="1">
                <a:solidFill>
                  <a:srgbClr val="0284C7"/>
                </a:solidFill>
                <a:latin typeface="Arial"/>
              </a:rPr>
              <a:t>PHÂN TÍCH &amp; TÍCH HỢP CLOUD / FIREBASE</a:t>
            </a:r>
          </a:p>
        </p:txBody>
      </p:sp>
      <p:sp>
        <p:nvSpPr>
          <p:cNvPr id="3" name="TextBox 2"/>
          <p:cNvSpPr txBox="1"/>
          <p:nvPr/>
        </p:nvSpPr>
        <p:spPr>
          <a:xfrm>
            <a:off x="731520" y="640080"/>
            <a:ext cx="10698480" cy="731520"/>
          </a:xfrm>
          <a:prstGeom prst="rect">
            <a:avLst/>
          </a:prstGeom>
          <a:noFill/>
        </p:spPr>
        <p:txBody>
          <a:bodyPr wrap="square">
            <a:spAutoFit/>
          </a:bodyPr>
          <a:lstStyle/>
          <a:p>
            <a:r>
              <a:rPr sz="2200" b="1">
                <a:solidFill>
                  <a:srgbClr val="1E3A8A"/>
                </a:solidFill>
                <a:latin typeface="Arial"/>
              </a:rPr>
              <a:t>9. TỔNG KẾT VÀ KẾT LUẬN TOÀN DIỆN</a:t>
            </a:r>
          </a:p>
        </p:txBody>
      </p:sp>
      <p:sp>
        <p:nvSpPr>
          <p:cNvPr id="4" name="Rounded Rectangle 3"/>
          <p:cNvSpPr/>
          <p:nvPr/>
        </p:nvSpPr>
        <p:spPr>
          <a:xfrm>
            <a:off x="731520" y="1463040"/>
            <a:ext cx="10728655"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480560"/>
          </a:xfrm>
          <a:prstGeom prst="rect">
            <a:avLst/>
          </a:prstGeom>
          <a:noFill/>
        </p:spPr>
        <p:txBody>
          <a:bodyPr wrap="square">
            <a:spAutoFit/>
          </a:bodyPr>
          <a:lstStyle/>
          <a:p>
            <a:pPr>
              <a:spcAft>
                <a:spcPts val="1400"/>
              </a:spcAft>
            </a:pPr>
            <a:r>
              <a:rPr sz="1400" b="1">
                <a:solidFill>
                  <a:srgbClr val="10B981"/>
                </a:solidFill>
                <a:latin typeface="Arial"/>
              </a:rPr>
              <a:t>HOÀN THÀNH TOÀN DIỆN 7/7 MỤC CHECKLIST ĐỀ BÀI YÊU CẦU</a:t>
            </a:r>
          </a:p>
          <a:p>
            <a:pPr>
              <a:spcBef>
                <a:spcPts val="800"/>
              </a:spcBef>
            </a:pPr>
            <a:r>
              <a:rPr sz="1050" b="1">
                <a:solidFill>
                  <a:srgbClr val="1E3A8A"/>
                </a:solidFill>
                <a:latin typeface="Arial"/>
              </a:rPr>
              <a:t>✨ Khẳng định giá trị chuyển đổi Cloud: </a:t>
            </a:r>
            <a:r>
              <a:rPr sz="1000">
                <a:solidFill>
                  <a:srgbClr val="1E293B"/>
                </a:solidFill>
                <a:latin typeface="Arial"/>
              </a:rPr>
              <a:t>Chuyển đổi từ On-Premises sang Cloud không chỉ mở rộng dung lượng không giới hạn, mà còn gia tăng vượt trội tính an toàn, bảo mật, khả năng truy cập mọi lúc mọi nơi cho sinh viên và giảng viên.</a:t>
            </a:r>
          </a:p>
          <a:p>
            <a:pPr>
              <a:spcBef>
                <a:spcPts val="800"/>
              </a:spcBef>
            </a:pPr>
            <a:r>
              <a:rPr sz="1050" b="1">
                <a:solidFill>
                  <a:srgbClr val="1E3A8A"/>
                </a:solidFill>
                <a:latin typeface="Arial"/>
              </a:rPr>
              <a:t>✨ Hệ sinh thái đối sánh chuyên sâu: </a:t>
            </a:r>
            <a:r>
              <a:rPr sz="1000">
                <a:solidFill>
                  <a:srgbClr val="1E293B"/>
                </a:solidFill>
                <a:latin typeface="Arial"/>
              </a:rPr>
              <a:t>Kết hợp mô hình lý thuyết tổng thể chuẩn AWS (S3, RDS, CloudFront, Lambda) với giải pháp thực nghiệm nhanh gọn, mạnh mẽ của Firebase (Google Sign-In &amp; Cloud Storage) tạo nên bộ giải pháp công nghệ toàn diện.</a:t>
            </a:r>
          </a:p>
          <a:p>
            <a:pPr>
              <a:spcBef>
                <a:spcPts val="800"/>
              </a:spcBef>
            </a:pPr>
            <a:r>
              <a:rPr sz="1050" b="1">
                <a:solidFill>
                  <a:srgbClr val="1E3A8A"/>
                </a:solidFill>
                <a:latin typeface="Arial"/>
              </a:rPr>
              <a:t>✨ Sẵn sàng triển khai thực nghiệm: </a:t>
            </a:r>
            <a:r>
              <a:rPr sz="1000">
                <a:solidFill>
                  <a:srgbClr val="1E293B"/>
                </a:solidFill>
                <a:latin typeface="Arial"/>
              </a:rPr>
              <a:t>Các bước thiết lập Firebase cho Flutter đã được chuẩn hóa rõ ràng. Nhóm 16 đã phân công cụ thể từng đầu việc, từng nhánh Git cho 4 thành viên, sẵn sàng bắt tay vào lập trình bài tập tiếp theo.</a:t>
            </a:r>
          </a:p>
          <a:p>
            <a:pPr>
              <a:spcBef>
                <a:spcPts val="800"/>
              </a:spcBef>
            </a:pPr>
            <a:r>
              <a:rPr sz="1050" b="1">
                <a:solidFill>
                  <a:srgbClr val="1E3A8A"/>
                </a:solidFill>
                <a:latin typeface="Arial"/>
              </a:rPr>
              <a:t>✨ Hồ sơ nộp bài đầy đủ: </a:t>
            </a:r>
            <a:r>
              <a:rPr sz="1000">
                <a:solidFill>
                  <a:srgbClr val="1E293B"/>
                </a:solidFill>
                <a:latin typeface="Arial"/>
              </a:rPr>
              <a:t>Bao gồm Slide thuyết trình PPTX chuyên nghiệp, Báo cáo kỹ thuật chi tiết (.DOCX và .MD), cùng tài liệu README.MD được cập nhật hoàn chỉnh trên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